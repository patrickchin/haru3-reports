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0" b="1">
                <a:solidFill>
                  <a:srgbClr val="212529"/>
                </a:solidFill>
                <a:latin typeface="Helvetica Neue"/>
              </a:rPr>
              <a:t>HARPA 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1D3557"/>
                </a:solidFill>
                <a:latin typeface="Helvetica Neue"/>
              </a:rPr>
              <a:t>Voice notes → AI-structured site reports for construction supervisors.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114800"/>
            <a:ext cx="2286000" cy="36576"/>
          </a:xfrm>
          <a:prstGeom prst="rect">
            <a:avLst/>
          </a:prstGeom>
          <a:solidFill>
            <a:srgbClr val="4FB3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12529"/>
                </a:solidFill>
                <a:latin typeface="Helvetica Neue"/>
              </a:rPr>
              <a:t>Haruna Bayoh &amp; Patrick Chin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00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Helvetica Neue"/>
              </a:rPr>
              <a:t>haruna@harpapro.com  ·  +86 156 6257 5731  ·  [MONTH YEAR]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4FB3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12529"/>
                </a:solidFill>
                <a:latin typeface="Helvetica Neue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801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212529"/>
                </a:solidFill>
                <a:latin typeface="Helvetica Neue"/>
              </a:rPr>
              <a:t>A site supervisor speaks into their phone. Harpa Pro transcribes,</a:t>
            </a:r>
          </a:p>
          <a:p>
            <a:pPr algn="l"/>
            <a:r>
              <a:rPr sz="2000" b="0">
                <a:solidFill>
                  <a:srgbClr val="212529"/>
                </a:solidFill>
                <a:latin typeface="Helvetica Neue"/>
              </a:rPr>
              <a:t>structures, and turns the voice note into a daily site report —</a:t>
            </a:r>
          </a:p>
          <a:p>
            <a:pPr algn="l"/>
            <a:r>
              <a:rPr sz="2000" b="0">
                <a:solidFill>
                  <a:srgbClr val="212529"/>
                </a:solidFill>
                <a:latin typeface="Helvetica Neue"/>
              </a:rPr>
              <a:t>weather, headcount, materials, flagged issues — in under a minute.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961491" y="4023360"/>
            <a:ext cx="1325880" cy="1188720"/>
          </a:xfrm>
          <a:prstGeom prst="rect">
            <a:avLst/>
          </a:prstGeom>
          <a:solidFill>
            <a:srgbClr val="4FB3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1491" y="4023360"/>
            <a:ext cx="132588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elvetica Neue"/>
              </a:rPr>
              <a:t>Site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Helvetica Neue"/>
              </a:rPr>
              <a:t>supervisor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96515" y="4023360"/>
            <a:ext cx="164592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6C757D"/>
                </a:solidFill>
                <a:latin typeface="Helvetica Neue"/>
              </a:rPr>
              <a:t>›</a:t>
            </a:r>
          </a:p>
        </p:txBody>
      </p:sp>
      <p:sp>
        <p:nvSpPr>
          <p:cNvPr id="8" name="Rectangle 7"/>
          <p:cNvSpPr/>
          <p:nvPr/>
        </p:nvSpPr>
        <p:spPr>
          <a:xfrm>
            <a:off x="2451963" y="4023360"/>
            <a:ext cx="1325880" cy="118872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51963" y="4023360"/>
            <a:ext cx="132588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212529"/>
                </a:solidFill>
                <a:latin typeface="Helvetica Neue"/>
              </a:rPr>
              <a:t>Voice</a:t>
            </a:r>
          </a:p>
          <a:p>
            <a:pPr algn="ctr"/>
            <a:r>
              <a:rPr sz="1400" b="1">
                <a:solidFill>
                  <a:srgbClr val="212529"/>
                </a:solidFill>
                <a:latin typeface="Helvetica Neue"/>
              </a:rPr>
              <a:t>note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86987" y="4023360"/>
            <a:ext cx="164592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6C757D"/>
                </a:solidFill>
                <a:latin typeface="Helvetica Neue"/>
              </a:rPr>
              <a:t>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42435" y="4023360"/>
            <a:ext cx="1325880" cy="118872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42435" y="4023360"/>
            <a:ext cx="132588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212529"/>
                </a:solidFill>
                <a:latin typeface="Helvetica Neue"/>
              </a:rPr>
              <a:t>Transcribe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7459" y="4023360"/>
            <a:ext cx="164592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6C757D"/>
                </a:solidFill>
                <a:latin typeface="Helvetica Neue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32907" y="4023360"/>
            <a:ext cx="1325880" cy="118872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32907" y="4023360"/>
            <a:ext cx="132588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212529"/>
                </a:solidFill>
                <a:latin typeface="Helvetica Neue"/>
              </a:rPr>
              <a:t>Structured</a:t>
            </a:r>
          </a:p>
          <a:p>
            <a:pPr algn="ctr"/>
            <a:r>
              <a:rPr sz="1400" b="1">
                <a:solidFill>
                  <a:srgbClr val="212529"/>
                </a:solidFill>
                <a:latin typeface="Helvetica Neue"/>
              </a:rPr>
              <a:t>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7931" y="4023360"/>
            <a:ext cx="164592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6C757D"/>
                </a:solidFill>
                <a:latin typeface="Helvetica Neue"/>
              </a:rPr>
              <a:t>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23379" y="4023360"/>
            <a:ext cx="1325880" cy="118872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23379" y="4023360"/>
            <a:ext cx="132588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212529"/>
                </a:solidFill>
                <a:latin typeface="Helvetica Neue"/>
              </a:rPr>
              <a:t>Attach</a:t>
            </a:r>
          </a:p>
          <a:p>
            <a:pPr algn="ctr"/>
            <a:r>
              <a:rPr sz="1400" b="1">
                <a:solidFill>
                  <a:srgbClr val="212529"/>
                </a:solidFill>
                <a:latin typeface="Helvetica Neue"/>
              </a:rPr>
              <a:t>media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8403" y="4023360"/>
            <a:ext cx="164592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6C757D"/>
                </a:solidFill>
                <a:latin typeface="Helvetica Neue"/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3851" y="4023360"/>
            <a:ext cx="1325880" cy="118872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3851" y="4023360"/>
            <a:ext cx="132588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212529"/>
                </a:solidFill>
                <a:latin typeface="Helvetica Neue"/>
              </a:rPr>
              <a:t>Generate</a:t>
            </a:r>
          </a:p>
          <a:p>
            <a:pPr algn="ctr"/>
            <a:r>
              <a:rPr sz="1400" b="1">
                <a:solidFill>
                  <a:srgbClr val="212529"/>
                </a:solidFill>
                <a:latin typeface="Helvetica Neue"/>
              </a:rPr>
              <a:t>report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48875" y="4023360"/>
            <a:ext cx="164592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6C757D"/>
                </a:solidFill>
                <a:latin typeface="Helvetica Neue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904323" y="4023360"/>
            <a:ext cx="1325880" cy="1188720"/>
          </a:xfrm>
          <a:prstGeom prst="rect">
            <a:avLst/>
          </a:prstGeom>
          <a:solidFill>
            <a:srgbClr val="4FB3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04323" y="4023360"/>
            <a:ext cx="132588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elvetica Neue"/>
              </a:rPr>
              <a:t>Export /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Helvetica Neue"/>
              </a:rPr>
              <a:t>share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C757D"/>
                </a:solidFill>
                <a:latin typeface="Helvetica Neue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4FB3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12529"/>
                </a:solidFill>
                <a:latin typeface="Helvetica Neue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0" b="1">
                <a:solidFill>
                  <a:srgbClr val="E63946"/>
                </a:solidFill>
                <a:latin typeface="Helvetica Neue"/>
              </a:rPr>
              <a:t>3–8 hours / week / 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834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212529"/>
                </a:solidFill>
                <a:latin typeface="Helvetica Neue"/>
              </a:rPr>
              <a:t>lost to manual site-report writing.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91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C757D"/>
                </a:solidFill>
                <a:latin typeface="Helvetica Neue"/>
              </a:rPr>
              <a:t>Source: Harpa Pro internal data + [INSERT EXTERNAL CITATION — e.g., McKinsey "Reinventing Construction" 2017].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114800"/>
            <a:ext cx="1051560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>
                <a:solidFill>
                  <a:srgbClr val="212529"/>
                </a:solidFill>
                <a:latin typeface="Helvetica Neue"/>
              </a:rPr>
              <a:t>—  Critical site details are forgotten before they're written down.</a:t>
            </a:r>
          </a:p>
          <a:p>
            <a:pPr algn="l">
              <a:lnSpc>
                <a:spcPct val="135000"/>
              </a:lnSpc>
            </a:pPr>
            <a:r>
              <a:rPr sz="1800">
                <a:solidFill>
                  <a:srgbClr val="212529"/>
                </a:solidFill>
                <a:latin typeface="Helvetica Neue"/>
              </a:rPr>
              <a:t>—  Owners and PMs lose visibility into progress.</a:t>
            </a:r>
          </a:p>
          <a:p>
            <a:pPr algn="l">
              <a:lnSpc>
                <a:spcPct val="135000"/>
              </a:lnSpc>
            </a:pPr>
            <a:r>
              <a:rPr sz="1800">
                <a:solidFill>
                  <a:srgbClr val="212529"/>
                </a:solidFill>
                <a:latin typeface="Helvetica Neue"/>
              </a:rPr>
              <a:t>—  Risk and incident data never make it into the audit trail.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C757D"/>
                </a:solidFill>
                <a:latin typeface="Helvetica Neue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4FB3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12529"/>
                </a:solidFill>
                <a:latin typeface="Helvetica Neue"/>
              </a:rPr>
              <a:t>Product</a:t>
            </a:r>
          </a:p>
        </p:txBody>
      </p:sp>
      <p:sp>
        <p:nvSpPr>
          <p:cNvPr id="4" name="Rectangle 3"/>
          <p:cNvSpPr/>
          <p:nvPr/>
        </p:nvSpPr>
        <p:spPr>
          <a:xfrm>
            <a:off x="1981047" y="1463040"/>
            <a:ext cx="2377440" cy="4206240"/>
          </a:xfrm>
          <a:prstGeom prst="rect">
            <a:avLst/>
          </a:prstGeom>
          <a:solidFill>
            <a:srgbClr val="F1F3F5"/>
          </a:solidFill>
          <a:ln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81047" y="178308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D3557"/>
                </a:solidFill>
                <a:latin typeface="Helvetica Neue"/>
              </a:rPr>
              <a:t>New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047" y="2926080"/>
            <a:ext cx="23774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C757D"/>
                </a:solidFill>
                <a:latin typeface="Helvetica Neue"/>
              </a:rPr>
              <a:t>Voice-note list,</a:t>
            </a:r>
          </a:p>
          <a:p>
            <a:pPr algn="ctr"/>
            <a:r>
              <a:rPr sz="1200" b="0">
                <a:solidFill>
                  <a:srgbClr val="6C757D"/>
                </a:solidFill>
                <a:latin typeface="Helvetica Neue"/>
              </a:rPr>
              <a:t>Generate-report</a:t>
            </a:r>
          </a:p>
          <a:p>
            <a:pPr algn="ctr"/>
            <a:r>
              <a:rPr sz="1200" b="0">
                <a:solidFill>
                  <a:srgbClr val="6C757D"/>
                </a:solidFill>
                <a:latin typeface="Helvetica Neue"/>
              </a:rPr>
              <a:t>button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1047" y="58064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63946"/>
                </a:solidFill>
                <a:latin typeface="Helvetica Neue"/>
              </a:rPr>
              <a:t>[INSERT SCREENSHOT 1]</a:t>
            </a:r>
          </a:p>
        </p:txBody>
      </p:sp>
      <p:sp>
        <p:nvSpPr>
          <p:cNvPr id="8" name="Rectangle 7"/>
          <p:cNvSpPr/>
          <p:nvPr/>
        </p:nvSpPr>
        <p:spPr>
          <a:xfrm>
            <a:off x="4907127" y="1463040"/>
            <a:ext cx="2377440" cy="4206240"/>
          </a:xfrm>
          <a:prstGeom prst="rect">
            <a:avLst/>
          </a:prstGeom>
          <a:solidFill>
            <a:srgbClr val="F1F3F5"/>
          </a:solidFill>
          <a:ln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07127" y="178308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D3557"/>
                </a:solidFill>
                <a:latin typeface="Helvetica Neue"/>
              </a:rPr>
              <a:t>Daily Progress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07127" y="2926080"/>
            <a:ext cx="23774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C757D"/>
                </a:solidFill>
                <a:latin typeface="Helvetica Neue"/>
              </a:rPr>
              <a:t>Weather, headcount,</a:t>
            </a:r>
          </a:p>
          <a:p>
            <a:pPr algn="ctr"/>
            <a:r>
              <a:rPr sz="1200" b="0">
                <a:solidFill>
                  <a:srgbClr val="6C757D"/>
                </a:solidFill>
                <a:latin typeface="Helvetica Neue"/>
              </a:rPr>
              <a:t>materials, flagged</a:t>
            </a:r>
          </a:p>
          <a:p>
            <a:pPr algn="ctr"/>
            <a:r>
              <a:rPr sz="1200" b="0">
                <a:solidFill>
                  <a:srgbClr val="6C757D"/>
                </a:solidFill>
                <a:latin typeface="Helvetica Neue"/>
              </a:rPr>
              <a:t>issues — structured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07127" y="58064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63946"/>
                </a:solidFill>
                <a:latin typeface="Helvetica Neue"/>
              </a:rPr>
              <a:t>[INSERT SCREENSHOT 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33207" y="1463040"/>
            <a:ext cx="2377440" cy="4206240"/>
          </a:xfrm>
          <a:prstGeom prst="rect">
            <a:avLst/>
          </a:prstGeom>
          <a:solidFill>
            <a:srgbClr val="F1F3F5"/>
          </a:solidFill>
          <a:ln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33207" y="178308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D3557"/>
                </a:solidFill>
                <a:latin typeface="Helvetica Neue"/>
              </a:rPr>
              <a:t>Reports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3207" y="2926080"/>
            <a:ext cx="23774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C757D"/>
                </a:solidFill>
                <a:latin typeface="Helvetica Neue"/>
              </a:rPr>
              <a:t>History with</a:t>
            </a:r>
          </a:p>
          <a:p>
            <a:pPr algn="ctr"/>
            <a:r>
              <a:rPr sz="1200" b="0">
                <a:solidFill>
                  <a:srgbClr val="6C757D"/>
                </a:solidFill>
                <a:latin typeface="Helvetica Neue"/>
              </a:rPr>
              <a:t>DRAFT / Incident /</a:t>
            </a:r>
          </a:p>
          <a:p>
            <a:pPr algn="ctr"/>
            <a:r>
              <a:rPr sz="1200" b="0">
                <a:solidFill>
                  <a:srgbClr val="6C757D"/>
                </a:solidFill>
                <a:latin typeface="Helvetica Neue"/>
              </a:rPr>
              <a:t>Safety 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33207" y="58064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63946"/>
                </a:solidFill>
                <a:latin typeface="Helvetica Neue"/>
              </a:rPr>
              <a:t>[INSERT SCREENSHOT 3]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126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C757D"/>
                </a:solidFill>
                <a:latin typeface="Helvetica Neue"/>
              </a:rPr>
              <a:t>Prototype 90% complete. Real screenshots already exist in the previous deck (slide 15).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C757D"/>
                </a:solidFill>
                <a:latin typeface="Helvetica Neue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4FB3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12529"/>
                </a:solidFill>
                <a:latin typeface="Helvetica Neue"/>
              </a:rPr>
              <a:t>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71600"/>
            <a:ext cx="10515600" cy="2926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>
                <a:solidFill>
                  <a:srgbClr val="212529"/>
                </a:solidFill>
                <a:latin typeface="Helvetica Neue"/>
              </a:rPr>
              <a:t>—  Prototype 90% complete on [iOS / Android / web].</a:t>
            </a:r>
          </a:p>
          <a:p>
            <a:pPr algn="l">
              <a:lnSpc>
                <a:spcPct val="135000"/>
              </a:lnSpc>
            </a:pPr>
            <a:r>
              <a:rPr sz="1800">
                <a:solidFill>
                  <a:srgbClr val="212529"/>
                </a:solidFill>
                <a:latin typeface="Helvetica Neue"/>
              </a:rPr>
              <a:t>—  Customer interviews: [N] site supervisors and PMs across [N] firms in [REGION].</a:t>
            </a:r>
          </a:p>
          <a:p>
            <a:pPr algn="l">
              <a:lnSpc>
                <a:spcPct val="135000"/>
              </a:lnSpc>
            </a:pPr>
            <a:r>
              <a:rPr sz="1800">
                <a:solidFill>
                  <a:srgbClr val="212529"/>
                </a:solidFill>
                <a:latin typeface="Helvetica Neue"/>
              </a:rPr>
              <a:t>—  Pilots: [PILOT COMPANY NAME] — [STATUS: signed LOI / in evaluation / paid pilot] · [START DATE].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480560"/>
            <a:ext cx="10515600" cy="182880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4480560"/>
            <a:ext cx="91440" cy="1828800"/>
          </a:xfrm>
          <a:prstGeom prst="rect">
            <a:avLst/>
          </a:prstGeom>
          <a:solidFill>
            <a:srgbClr val="4FB3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46177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12529"/>
                </a:solidFill>
                <a:latin typeface="Helvetica Neue"/>
              </a:rPr>
              <a:t>“[VERBATIM QUOTE FROM A REAL CONSTRUCTION PM, 1–2 SENTENCES.]”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57607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C757D"/>
                </a:solidFill>
                <a:latin typeface="Helvetica Neue"/>
              </a:rPr>
              <a:t>— [NAME], [TITLE], [COMPANY]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C757D"/>
                </a:solidFill>
                <a:latin typeface="Helvetica Neue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4FB3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12529"/>
                </a:solidFill>
                <a:latin typeface="Helvetica Neue"/>
              </a:rPr>
              <a:t>Market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463040"/>
            <a:ext cx="10515600" cy="1325880"/>
          </a:xfrm>
          <a:prstGeom prst="rect">
            <a:avLst/>
          </a:prstGeom>
          <a:solidFill>
            <a:srgbClr val="4FB3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182880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 Neue"/>
              </a:rPr>
              <a:t>SOM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463040"/>
            <a:ext cx="594360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Helvetica Neue"/>
              </a:rPr>
              <a:t>[N] supervisors in [REGION] × $[ACV]/yr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463040"/>
            <a:ext cx="246888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800" b="1">
                <a:solidFill>
                  <a:srgbClr val="FFFFFF"/>
                </a:solidFill>
                <a:latin typeface="Helvetica Neue"/>
              </a:rPr>
              <a:t>$[SOM] M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971800"/>
            <a:ext cx="10515600" cy="132588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71800"/>
            <a:ext cx="182880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 Neue"/>
              </a:rPr>
              <a:t>SAM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971800"/>
            <a:ext cx="594360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Helvetica Neue"/>
              </a:rPr>
              <a:t>GCs + enterprise developers in [REGION/COUNTRY]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971800"/>
            <a:ext cx="246888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800" b="1">
                <a:solidFill>
                  <a:srgbClr val="FFFFFF"/>
                </a:solidFill>
                <a:latin typeface="Helvetica Neue"/>
              </a:rPr>
              <a:t>$[SAM] 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480560"/>
            <a:ext cx="10515600" cy="132588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82880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 Neue"/>
              </a:rPr>
              <a:t>TAM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4480560"/>
            <a:ext cx="594360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Helvetica Neue"/>
              </a:rPr>
              <a:t>Global construction software market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480560"/>
            <a:ext cx="246888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800" b="1">
                <a:solidFill>
                  <a:srgbClr val="FFFFFF"/>
                </a:solidFill>
                <a:latin typeface="Helvetica Neue"/>
              </a:rPr>
              <a:t>$[TAM]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8521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C757D"/>
                </a:solidFill>
                <a:latin typeface="Helvetica Neue"/>
              </a:rPr>
              <a:t>Bottoms-up first. TAM source: [INSERT INDUSTRY REPORT — IDC / Gartner / Statista].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C757D"/>
                </a:solidFill>
                <a:latin typeface="Helvetica Neue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4FB3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12529"/>
                </a:solidFill>
                <a:latin typeface="Helvetica Neue"/>
              </a:rPr>
              <a:t>Competition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371600"/>
            <a:ext cx="1554480" cy="64008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1554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Helvetica Neue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2423160" y="1371600"/>
            <a:ext cx="2103120" cy="64008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23160" y="1371600"/>
            <a:ext cx="2103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Helvetica Neue"/>
              </a:rPr>
              <a:t>Procore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6280" y="1371600"/>
            <a:ext cx="2286000" cy="64008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371600"/>
            <a:ext cx="2286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Helvetica Neue"/>
              </a:rPr>
              <a:t>Buildots /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Helvetica Neue"/>
              </a:rPr>
              <a:t>OpenSpace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12280" y="1371600"/>
            <a:ext cx="2103120" cy="64008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1371600"/>
            <a:ext cx="2103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Helvetica Neue"/>
              </a:rPr>
              <a:t>Fieldwire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15400" y="1371600"/>
            <a:ext cx="2468880" cy="640080"/>
          </a:xfrm>
          <a:prstGeom prst="rect">
            <a:avLst/>
          </a:prstGeom>
          <a:solidFill>
            <a:srgbClr val="4FB3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15400" y="1371600"/>
            <a:ext cx="2468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Helvetica Neue"/>
              </a:rPr>
              <a:t>Harpa Pro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2011680"/>
            <a:ext cx="1554480" cy="640080"/>
          </a:xfrm>
          <a:prstGeom prst="rect">
            <a:avLst/>
          </a:prstGeom>
          <a:solidFill>
            <a:srgbClr val="F1F3F5"/>
          </a:solidFill>
          <a:ln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011680"/>
            <a:ext cx="1554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12529"/>
                </a:solidFill>
                <a:latin typeface="Helvetica Neue"/>
              </a:rPr>
              <a:t>Buyer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23160" y="2011680"/>
            <a:ext cx="2103120" cy="640080"/>
          </a:xfrm>
          <a:prstGeom prst="rect">
            <a:avLst/>
          </a:prstGeom>
          <a:solidFill>
            <a:srgbClr val="F1F3F5"/>
          </a:solidFill>
          <a:ln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23160" y="2011680"/>
            <a:ext cx="2103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12529"/>
                </a:solidFill>
                <a:latin typeface="Helvetica Neue"/>
              </a:rPr>
              <a:t>Enterprise GC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26280" y="2011680"/>
            <a:ext cx="2286000" cy="640080"/>
          </a:xfrm>
          <a:prstGeom prst="rect">
            <a:avLst/>
          </a:prstGeom>
          <a:solidFill>
            <a:srgbClr val="F1F3F5"/>
          </a:solidFill>
          <a:ln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2011680"/>
            <a:ext cx="2286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12529"/>
                </a:solidFill>
                <a:latin typeface="Helvetica Neue"/>
              </a:rPr>
              <a:t>Enterprise GC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12280" y="2011680"/>
            <a:ext cx="2103120" cy="640080"/>
          </a:xfrm>
          <a:prstGeom prst="rect">
            <a:avLst/>
          </a:prstGeom>
          <a:solidFill>
            <a:srgbClr val="F1F3F5"/>
          </a:solidFill>
          <a:ln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011680"/>
            <a:ext cx="2103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12529"/>
                </a:solidFill>
                <a:latin typeface="Helvetica Neue"/>
              </a:rPr>
              <a:t>Mid-market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5400" y="2011680"/>
            <a:ext cx="2468880" cy="640080"/>
          </a:xfrm>
          <a:prstGeom prst="rect">
            <a:avLst/>
          </a:prstGeom>
          <a:solidFill>
            <a:srgbClr val="E7F6F4"/>
          </a:solidFill>
          <a:ln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2011680"/>
            <a:ext cx="2468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12529"/>
                </a:solidFill>
                <a:latin typeface="Helvetica Neue"/>
              </a:rPr>
              <a:t>Site supervisor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2651760"/>
            <a:ext cx="1554480" cy="640080"/>
          </a:xfrm>
          <a:prstGeom prst="rect">
            <a:avLst/>
          </a:prstGeom>
          <a:solidFill>
            <a:srgbClr val="FFFFFF"/>
          </a:solidFill>
          <a:ln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2651760"/>
            <a:ext cx="1554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12529"/>
                </a:solidFill>
                <a:latin typeface="Helvetica Neue"/>
              </a:rPr>
              <a:t>Input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23160" y="2651760"/>
            <a:ext cx="2103120" cy="640080"/>
          </a:xfrm>
          <a:prstGeom prst="rect">
            <a:avLst/>
          </a:prstGeom>
          <a:solidFill>
            <a:srgbClr val="FFFFFF"/>
          </a:solidFill>
          <a:ln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23160" y="2651760"/>
            <a:ext cx="2103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12529"/>
                </a:solidFill>
                <a:latin typeface="Helvetica Neue"/>
              </a:rPr>
              <a:t>Manual forms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26280" y="2651760"/>
            <a:ext cx="22860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26280" y="2651760"/>
            <a:ext cx="2286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12529"/>
                </a:solidFill>
                <a:latin typeface="Helvetica Neue"/>
              </a:rPr>
              <a:t>360° camera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12280" y="2651760"/>
            <a:ext cx="2103120" cy="640080"/>
          </a:xfrm>
          <a:prstGeom prst="rect">
            <a:avLst/>
          </a:prstGeom>
          <a:solidFill>
            <a:srgbClr val="FFFFFF"/>
          </a:solidFill>
          <a:ln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2651760"/>
            <a:ext cx="2103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12529"/>
                </a:solidFill>
                <a:latin typeface="Helvetica Neue"/>
              </a:rPr>
              <a:t>Manual forms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5400" y="2651760"/>
            <a:ext cx="2468880" cy="640080"/>
          </a:xfrm>
          <a:prstGeom prst="rect">
            <a:avLst/>
          </a:prstGeom>
          <a:solidFill>
            <a:srgbClr val="E7F6F4"/>
          </a:solidFill>
          <a:ln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15400" y="2651760"/>
            <a:ext cx="2468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12529"/>
                </a:solidFill>
                <a:latin typeface="Helvetica Neue"/>
              </a:rPr>
              <a:t>Voice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" y="3291840"/>
            <a:ext cx="1554480" cy="640080"/>
          </a:xfrm>
          <a:prstGeom prst="rect">
            <a:avLst/>
          </a:prstGeom>
          <a:solidFill>
            <a:srgbClr val="F1F3F5"/>
          </a:solidFill>
          <a:ln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3291840"/>
            <a:ext cx="1554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12529"/>
                </a:solidFill>
                <a:latin typeface="Helvetica Neue"/>
              </a:rPr>
              <a:t>Onboarding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23160" y="3291840"/>
            <a:ext cx="2103120" cy="640080"/>
          </a:xfrm>
          <a:prstGeom prst="rect">
            <a:avLst/>
          </a:prstGeom>
          <a:solidFill>
            <a:srgbClr val="F1F3F5"/>
          </a:solidFill>
          <a:ln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23160" y="3291840"/>
            <a:ext cx="2103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12529"/>
                </a:solidFill>
                <a:latin typeface="Helvetica Neue"/>
              </a:rPr>
              <a:t>Weeks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26280" y="3291840"/>
            <a:ext cx="2286000" cy="640080"/>
          </a:xfrm>
          <a:prstGeom prst="rect">
            <a:avLst/>
          </a:prstGeom>
          <a:solidFill>
            <a:srgbClr val="F1F3F5"/>
          </a:solidFill>
          <a:ln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26280" y="3291840"/>
            <a:ext cx="2286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12529"/>
                </a:solidFill>
                <a:latin typeface="Helvetica Neue"/>
              </a:rPr>
              <a:t>Weeks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12280" y="3291840"/>
            <a:ext cx="2103120" cy="640080"/>
          </a:xfrm>
          <a:prstGeom prst="rect">
            <a:avLst/>
          </a:prstGeom>
          <a:solidFill>
            <a:srgbClr val="F1F3F5"/>
          </a:solidFill>
          <a:ln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12280" y="3291840"/>
            <a:ext cx="2103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12529"/>
                </a:solidFill>
                <a:latin typeface="Helvetica Neue"/>
              </a:rPr>
              <a:t>Days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15400" y="3291840"/>
            <a:ext cx="2468880" cy="640080"/>
          </a:xfrm>
          <a:prstGeom prst="rect">
            <a:avLst/>
          </a:prstGeom>
          <a:solidFill>
            <a:srgbClr val="E7F6F4"/>
          </a:solidFill>
          <a:ln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15400" y="3291840"/>
            <a:ext cx="2468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12529"/>
                </a:solidFill>
                <a:latin typeface="Helvetica Neue"/>
              </a:rPr>
              <a:t>Minutes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680" y="3931920"/>
            <a:ext cx="1554480" cy="640080"/>
          </a:xfrm>
          <a:prstGeom prst="rect">
            <a:avLst/>
          </a:prstGeom>
          <a:solidFill>
            <a:srgbClr val="FFFFFF"/>
          </a:solidFill>
          <a:ln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3931920"/>
            <a:ext cx="1554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12529"/>
                </a:solidFill>
                <a:latin typeface="Helvetica Neue"/>
              </a:rPr>
              <a:t>Price tier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23160" y="3931920"/>
            <a:ext cx="2103120" cy="640080"/>
          </a:xfrm>
          <a:prstGeom prst="rect">
            <a:avLst/>
          </a:prstGeom>
          <a:solidFill>
            <a:srgbClr val="FFFFFF"/>
          </a:solidFill>
          <a:ln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423160" y="3931920"/>
            <a:ext cx="2103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12529"/>
                </a:solidFill>
                <a:latin typeface="Helvetica Neue"/>
              </a:rPr>
              <a:t>$$$$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26280" y="3931920"/>
            <a:ext cx="22860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26280" y="3931920"/>
            <a:ext cx="2286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12529"/>
                </a:solidFill>
                <a:latin typeface="Helvetica Neue"/>
              </a:rPr>
              <a:t>$$$$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12280" y="3931920"/>
            <a:ext cx="2103120" cy="640080"/>
          </a:xfrm>
          <a:prstGeom prst="rect">
            <a:avLst/>
          </a:prstGeom>
          <a:solidFill>
            <a:srgbClr val="FFFFFF"/>
          </a:solidFill>
          <a:ln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12280" y="3931920"/>
            <a:ext cx="2103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12529"/>
                </a:solidFill>
                <a:latin typeface="Helvetica Neue"/>
              </a:rPr>
              <a:t>$$$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915400" y="3931920"/>
            <a:ext cx="2468880" cy="640080"/>
          </a:xfrm>
          <a:prstGeom prst="rect">
            <a:avLst/>
          </a:prstGeom>
          <a:solidFill>
            <a:srgbClr val="E7F6F4"/>
          </a:solidFill>
          <a:ln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915400" y="3931920"/>
            <a:ext cx="2468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12529"/>
                </a:solidFill>
                <a:latin typeface="Helvetica Neue"/>
              </a:rPr>
              <a:t>$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80" y="5212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12529"/>
                </a:solidFill>
                <a:latin typeface="Helvetica Neue"/>
              </a:rPr>
              <a:t>Wedge: voice-first input · supervisor-grade UX · onboarding in minutes, not weeks.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C757D"/>
                </a:solidFill>
                <a:latin typeface="Helvetica Neue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4FB3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12529"/>
                </a:solidFill>
                <a:latin typeface="Helvetica Neue"/>
              </a:rPr>
              <a:t>Business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78027" y="1828800"/>
            <a:ext cx="2606040" cy="274320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78027" y="1828800"/>
            <a:ext cx="2606040" cy="73152"/>
          </a:xfrm>
          <a:prstGeom prst="rect">
            <a:avLst/>
          </a:prstGeom>
          <a:solidFill>
            <a:srgbClr val="4FB3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8027" y="210312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C757D"/>
                </a:solidFill>
                <a:latin typeface="Helvetica Neue"/>
              </a:rPr>
              <a:t>Pricing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8027" y="2697480"/>
            <a:ext cx="260604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1D3557"/>
                </a:solidFill>
                <a:latin typeface="Helvetica Neue"/>
              </a:rPr>
              <a:t>$[X]</a:t>
            </a:r>
          </a:p>
          <a:p>
            <a:pPr algn="ctr"/>
            <a:r>
              <a:rPr sz="3200" b="1">
                <a:solidFill>
                  <a:srgbClr val="1D3557"/>
                </a:solidFill>
                <a:latin typeface="Helvetica Neue"/>
              </a:rPr>
              <a:t>/seat/mo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027" y="397764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C757D"/>
                </a:solidFill>
                <a:latin typeface="Helvetica Neue"/>
              </a:rPr>
              <a:t>billed annually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1227" y="1828800"/>
            <a:ext cx="2606040" cy="274320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1227" y="1828800"/>
            <a:ext cx="2606040" cy="73152"/>
          </a:xfrm>
          <a:prstGeom prst="rect">
            <a:avLst/>
          </a:prstGeom>
          <a:solidFill>
            <a:srgbClr val="4FB3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1227" y="210312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C757D"/>
                </a:solidFill>
                <a:latin typeface="Helvetica Neue"/>
              </a:rPr>
              <a:t>Target ACV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1227" y="2697480"/>
            <a:ext cx="260604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1D3557"/>
                </a:solidFill>
                <a:latin typeface="Helvetica Neue"/>
              </a:rPr>
              <a:t>$[Y]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1227" y="397764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C757D"/>
                </a:solidFill>
                <a:latin typeface="Helvetica Neue"/>
              </a:rPr>
              <a:t>≈ [N] seats per company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64427" y="1828800"/>
            <a:ext cx="2606040" cy="274320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64427" y="1828800"/>
            <a:ext cx="2606040" cy="73152"/>
          </a:xfrm>
          <a:prstGeom prst="rect">
            <a:avLst/>
          </a:prstGeom>
          <a:solidFill>
            <a:srgbClr val="4FB3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64427" y="210312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C757D"/>
                </a:solidFill>
                <a:latin typeface="Helvetica Neue"/>
              </a:rPr>
              <a:t>Gross margin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64427" y="2697480"/>
            <a:ext cx="260604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1D3557"/>
                </a:solidFill>
                <a:latin typeface="Helvetica Neue"/>
              </a:rPr>
              <a:t>[Z]%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64427" y="397764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C757D"/>
                </a:solidFill>
                <a:latin typeface="Helvetica Neue"/>
              </a:rPr>
              <a:t>after AI inference cost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07627" y="1828800"/>
            <a:ext cx="2606040" cy="274320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07627" y="1828800"/>
            <a:ext cx="2606040" cy="73152"/>
          </a:xfrm>
          <a:prstGeom prst="rect">
            <a:avLst/>
          </a:prstGeom>
          <a:solidFill>
            <a:srgbClr val="4FB3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07627" y="210312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C757D"/>
                </a:solidFill>
                <a:latin typeface="Helvetica Neue"/>
              </a:rPr>
              <a:t>Motion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7627" y="2697480"/>
            <a:ext cx="260604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1D3557"/>
                </a:solidFill>
                <a:latin typeface="Helvetica Neue"/>
              </a:rPr>
              <a:t>Land &amp;</a:t>
            </a:r>
          </a:p>
          <a:p>
            <a:pPr algn="ctr"/>
            <a:r>
              <a:rPr sz="3200" b="1">
                <a:solidFill>
                  <a:srgbClr val="1D3557"/>
                </a:solidFill>
                <a:latin typeface="Helvetica Neue"/>
              </a:rPr>
              <a:t>expand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07627" y="397764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C757D"/>
                </a:solidFill>
                <a:latin typeface="Helvetica Neue"/>
              </a:rPr>
              <a:t>supervisor → PM → owner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3035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C757D"/>
                </a:solidFill>
                <a:latin typeface="Helvetica Neue"/>
              </a:rPr>
              <a:t>AI inference cost ≈ $[X] per active user / month — shown for cost transparency.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C757D"/>
                </a:solidFill>
                <a:latin typeface="Helvetica Neue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4FB3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12529"/>
                </a:solidFill>
                <a:latin typeface="Helvetica Neue"/>
              </a:rPr>
              <a:t>Team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327" y="1554480"/>
            <a:ext cx="5120640" cy="402336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49527" y="2011680"/>
            <a:ext cx="1645920" cy="1645920"/>
          </a:xfrm>
          <a:prstGeom prst="rect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49527" y="2011680"/>
            <a:ext cx="164592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[PHOTO]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78327" y="210312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12529"/>
                </a:solidFill>
                <a:latin typeface="Helvetica Neue"/>
              </a:rPr>
              <a:t>Haruna Bayoh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78327" y="26060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4FB3A9"/>
                </a:solidFill>
                <a:latin typeface="Helvetica Neue"/>
              </a:rPr>
              <a:t>Co-founder · [ROLE]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49527" y="3931920"/>
            <a:ext cx="4206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12529"/>
                </a:solidFill>
                <a:latin typeface="Helvetica Neue"/>
              </a:rPr>
              <a:t>[ONE-LINE WHY-US: prior construction-tech experience,</a:t>
            </a:r>
          </a:p>
          <a:p>
            <a:pPr algn="l"/>
            <a:r>
              <a:rPr sz="1400" b="0">
                <a:solidFill>
                  <a:srgbClr val="212529"/>
                </a:solidFill>
                <a:latin typeface="Helvetica Neue"/>
              </a:rPr>
              <a:t>shipped product, language/region advantage, technical depth.]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1554480"/>
            <a:ext cx="5120640" cy="402336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35927" y="2011680"/>
            <a:ext cx="1645920" cy="1645920"/>
          </a:xfrm>
          <a:prstGeom prst="rect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011680"/>
            <a:ext cx="164592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[PHOTO]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64727" y="210312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12529"/>
                </a:solidFill>
                <a:latin typeface="Helvetica Neue"/>
              </a:rPr>
              <a:t>Patrick Chin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64727" y="26060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4FB3A9"/>
                </a:solidFill>
                <a:latin typeface="Helvetica Neue"/>
              </a:rPr>
              <a:t>Co-founder · [ROLE]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35927" y="3931920"/>
            <a:ext cx="4206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12529"/>
                </a:solidFill>
                <a:latin typeface="Helvetica Neue"/>
              </a:rPr>
              <a:t>[ONE-LINE WHY-US: what you've built and shipped,</a:t>
            </a:r>
          </a:p>
          <a:p>
            <a:pPr algn="l"/>
            <a:r>
              <a:rPr sz="1400" b="0">
                <a:solidFill>
                  <a:srgbClr val="212529"/>
                </a:solidFill>
                <a:latin typeface="Helvetica Neue"/>
              </a:rPr>
              <a:t>relevant domain experience.]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C757D"/>
                </a:solidFill>
                <a:latin typeface="Helvetica Neue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4FB3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12529"/>
                </a:solidFill>
                <a:latin typeface="Helvetica Neue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7160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0" b="1">
                <a:solidFill>
                  <a:srgbClr val="E63946"/>
                </a:solidFill>
                <a:latin typeface="Helvetica Neue"/>
              </a:rPr>
              <a:t>$200,000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060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212529"/>
                </a:solidFill>
                <a:latin typeface="Helvetica Neue"/>
              </a:rPr>
              <a:t>SAFE  ·  $[CAP] M post-money cap  ·  18 months runway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474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C757D"/>
                </a:solidFill>
                <a:latin typeface="Helvetica Neue"/>
              </a:rPr>
              <a:t>Buys us: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68580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>
                <a:solidFill>
                  <a:srgbClr val="212529"/>
                </a:solidFill>
                <a:latin typeface="Helvetica Neue"/>
              </a:rPr>
              <a:t>•  [N] paying pilots in [REGION]</a:t>
            </a:r>
          </a:p>
          <a:p>
            <a:pPr algn="l">
              <a:lnSpc>
                <a:spcPct val="135000"/>
              </a:lnSpc>
            </a:pPr>
            <a:r>
              <a:rPr sz="1600">
                <a:solidFill>
                  <a:srgbClr val="212529"/>
                </a:solidFill>
                <a:latin typeface="Helvetica Neue"/>
              </a:rPr>
              <a:t>•  $[MRR] MRR</a:t>
            </a:r>
          </a:p>
          <a:p>
            <a:pPr algn="l">
              <a:lnSpc>
                <a:spcPct val="135000"/>
              </a:lnSpc>
            </a:pPr>
            <a:r>
              <a:rPr sz="1600">
                <a:solidFill>
                  <a:srgbClr val="212529"/>
                </a:solidFill>
                <a:latin typeface="Helvetica Neue"/>
              </a:rPr>
              <a:t>•  [PRODUCT MILESTONE — e.g., multi-language transcription, offline mode]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3840480"/>
            <a:ext cx="3383280" cy="219456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2440" y="39319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6C757D"/>
                </a:solidFill>
                <a:latin typeface="Helvetica Neue"/>
              </a:rPr>
              <a:t>Use of funds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4297680"/>
            <a:ext cx="3200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212529"/>
                </a:solidFill>
                <a:latin typeface="Helvetica Neue"/>
              </a:rPr>
              <a:t>—  [%] product</a:t>
            </a:r>
          </a:p>
          <a:p>
            <a:pPr algn="l">
              <a:lnSpc>
                <a:spcPct val="135000"/>
              </a:lnSpc>
            </a:pPr>
            <a:r>
              <a:rPr sz="1400">
                <a:solidFill>
                  <a:srgbClr val="212529"/>
                </a:solidFill>
                <a:latin typeface="Helvetica Neue"/>
              </a:rPr>
              <a:t>—  [%] AI inference</a:t>
            </a:r>
          </a:p>
          <a:p>
            <a:pPr algn="l">
              <a:lnSpc>
                <a:spcPct val="135000"/>
              </a:lnSpc>
            </a:pPr>
            <a:r>
              <a:rPr sz="1400">
                <a:solidFill>
                  <a:srgbClr val="212529"/>
                </a:solidFill>
                <a:latin typeface="Helvetica Neue"/>
              </a:rPr>
              <a:t>—  [%] go-to-market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6126480"/>
            <a:ext cx="10515600" cy="36576"/>
          </a:xfrm>
          <a:prstGeom prst="rect">
            <a:avLst/>
          </a:prstGeom>
          <a:solidFill>
            <a:srgbClr val="4FB3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6217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3557"/>
                </a:solidFill>
                <a:latin typeface="Helvetica Neue"/>
              </a:rPr>
              <a:t>Haruna Bayoh  ·  haruna@harpapro.com  ·  +86 156 6257 5731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C757D"/>
                </a:solidFill>
                <a:latin typeface="Helvetica Neue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