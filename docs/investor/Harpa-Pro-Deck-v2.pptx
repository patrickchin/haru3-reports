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2D3A5A"/>
                </a:solidFill>
                <a:latin typeface="Helvetica Neue"/>
              </a:rPr>
              <a:t>Voice notes turn into AI-structured site reports</a:t>
            </a:r>
          </a:p>
          <a:p>
            <a:pPr algn="l">
              <a:lnSpc>
                <a:spcPct val="130000"/>
              </a:lnSpc>
            </a:pPr>
            <a:r>
              <a:rPr sz="2200" b="0">
                <a:solidFill>
                  <a:srgbClr val="2D3A5A"/>
                </a:solidFill>
                <a:latin typeface="Helvetica Neue"/>
              </a:rPr>
              <a:t>for construction supervisors.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228600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60">
                <a:solidFill>
                  <a:srgbClr val="5F5B66"/>
                </a:solidFill>
                <a:latin typeface="Helvetica Neue"/>
              </a:rPr>
              <a:t>FOUNDERS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D3A5A"/>
                </a:solidFill>
                <a:latin typeface="Helvetica Neue"/>
              </a:rPr>
              <a:t>Haruna Bayoh  ·  Patrick Chin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60">
                <a:solidFill>
                  <a:srgbClr val="5F5B66"/>
                </a:solidFill>
                <a:latin typeface="Helvetica Neue"/>
              </a:rPr>
              <a:t>CONTACT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5B66"/>
                </a:solidFill>
                <a:latin typeface="Menlo"/>
              </a:rPr>
              <a:t>haruna@harpapro.com   ·   +86 156 6257 5731   ·   [MONTH YEAR]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WHAT WE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Voice in. Structured site report out.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69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2D3A5A"/>
                </a:solidFill>
                <a:latin typeface="Helvetica Neue"/>
              </a:rPr>
              <a:t>A site supervisor speaks into their phone. Harpa Pro transcribes,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2D3A5A"/>
                </a:solidFill>
                <a:latin typeface="Helvetica Neue"/>
              </a:rPr>
              <a:t>structures, and turns the voice note into a daily site report —</a:t>
            </a:r>
          </a:p>
          <a:p>
            <a:pPr algn="l">
              <a:lnSpc>
                <a:spcPct val="140000"/>
              </a:lnSpc>
            </a:pPr>
            <a:r>
              <a:rPr sz="1800" b="0">
                <a:solidFill>
                  <a:srgbClr val="2D3A5A"/>
                </a:solidFill>
                <a:latin typeface="Helvetica Neue"/>
              </a:rPr>
              <a:t>weather, headcount, materials, flagged issues — in under a minute.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471" y="4297680"/>
            <a:ext cx="1371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1471" y="4434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1471" y="47091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Site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supervisor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7663" y="4297680"/>
            <a:ext cx="1371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37663" y="4434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37663" y="47091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Voice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note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73855" y="4297680"/>
            <a:ext cx="1371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73855" y="4434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73855" y="47091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Transcribe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10047" y="4297680"/>
            <a:ext cx="1371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10047" y="4434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10047" y="47091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Structured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6239" y="4297680"/>
            <a:ext cx="1371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6239" y="4434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6239" y="47091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Attach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media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82431" y="4297680"/>
            <a:ext cx="13716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82431" y="4434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82431" y="47091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Generate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2D3A5A"/>
                </a:solidFill>
                <a:latin typeface="Helvetica Neue"/>
              </a:rPr>
              <a:t>report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18623" y="4297680"/>
            <a:ext cx="1371600" cy="132588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18623" y="44348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FFE6D5"/>
                </a:solidFill>
                <a:latin typeface="Menlo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8623" y="4709160"/>
            <a:ext cx="13716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Export /</a:t>
            </a:r>
          </a:p>
          <a:p>
            <a:pPr algn="ctr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Helvetica Neue"/>
              </a:rPr>
              <a:t>share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02 /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02 —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Site reports are slow, lossy, and unsearchable.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104698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400" b="1">
                <a:solidFill>
                  <a:srgbClr val="EA580C"/>
                </a:solidFill>
                <a:latin typeface="Helvetica Neue"/>
              </a:rPr>
              <a:t>3–8 hrs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5468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D3A5A"/>
                </a:solidFill>
                <a:latin typeface="Helvetica Neue"/>
              </a:rPr>
              <a:t>per week per manager  —  lost to manual report writing.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60">
                <a:solidFill>
                  <a:srgbClr val="8A8693"/>
                </a:solidFill>
                <a:latin typeface="Helvetica Neue"/>
              </a:rPr>
              <a:t>SOURCE: HARPA PRO INTERNAL DATA + [INSERT EXTERNAL CITATION]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5147" y="4297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467" y="45720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MEMORY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467" y="493776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D3A5A"/>
                </a:solidFill>
                <a:latin typeface="Helvetica Neue"/>
              </a:rPr>
              <a:t>Critical site details forgotten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D3A5A"/>
                </a:solidFill>
                <a:latin typeface="Helvetica Neue"/>
              </a:rPr>
              <a:t>before they're written down.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9907" y="4297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4227" y="45720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VISIBILITY GAP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4227" y="493776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D3A5A"/>
                </a:solidFill>
                <a:latin typeface="Helvetica Neue"/>
              </a:rPr>
              <a:t>Owners and PMs lose visibility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D3A5A"/>
                </a:solidFill>
                <a:latin typeface="Helvetica Neue"/>
              </a:rPr>
              <a:t>into day-to-day progress.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4667" y="4297680"/>
            <a:ext cx="36118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8987" y="4572000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AUDIT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8987" y="4937760"/>
            <a:ext cx="30632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2D3A5A"/>
                </a:solidFill>
                <a:latin typeface="Helvetica Neue"/>
              </a:rPr>
              <a:t>Risk and incident data never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2D3A5A"/>
                </a:solidFill>
                <a:latin typeface="Helvetica Neue"/>
              </a:rPr>
              <a:t>make it into the audit trail.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03 /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03 — PROBLEM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The 90%-complete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98167" y="1828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NEW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8167" y="210312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5B66"/>
                </a:solidFill>
                <a:latin typeface="Helvetica Neue"/>
              </a:rPr>
              <a:t>Voice-note list, timestamps,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5B66"/>
                </a:solidFill>
                <a:latin typeface="Helvetica Neue"/>
              </a:rPr>
              <a:t>Generate-report button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98167" y="2788920"/>
            <a:ext cx="25603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26767" y="301752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72487" y="352044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72487" y="402336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072487" y="45262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072487" y="502920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5687" y="1828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DAILY PROGRESS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5687" y="210312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5B66"/>
                </a:solidFill>
                <a:latin typeface="Helvetica Neue"/>
              </a:rPr>
              <a:t>Structured: weather, headcount,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5B66"/>
                </a:solidFill>
                <a:latin typeface="Helvetica Neue"/>
              </a:rPr>
              <a:t>materials, flagged issues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15687" y="2788920"/>
            <a:ext cx="25603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044287" y="301752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90007" y="352044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90007" y="402336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90007" y="45262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90007" y="502920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33207" y="1828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33207" y="2103120"/>
            <a:ext cx="2560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5B66"/>
                </a:solidFill>
                <a:latin typeface="Helvetica Neue"/>
              </a:rPr>
              <a:t>History with DRAFT, Incident,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5F5B66"/>
                </a:solidFill>
                <a:latin typeface="Helvetica Neue"/>
              </a:rPr>
              <a:t>Safety status tags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33207" y="2788920"/>
            <a:ext cx="2560320" cy="3383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061807" y="3017520"/>
            <a:ext cx="2103120" cy="274320"/>
          </a:xfrm>
          <a:prstGeom prst="roundRect">
            <a:avLst>
              <a:gd name="adj" fmla="val 3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07527" y="352044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107527" y="402336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07527" y="452628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07527" y="5029200"/>
            <a:ext cx="2011680" cy="320040"/>
          </a:xfrm>
          <a:prstGeom prst="roundRect">
            <a:avLst>
              <a:gd name="adj" fmla="val 2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" y="6217920"/>
            <a:ext cx="104698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b="0">
                <a:solidFill>
                  <a:srgbClr val="8A8693"/>
                </a:solidFill>
                <a:latin typeface="Menlo"/>
              </a:rPr>
              <a:t>Mock frames — replace with real screenshots before sending.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04 — PRODUCT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Where we are today.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182880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86587" y="1828800"/>
            <a:ext cx="35204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147" y="2103120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D3A5A"/>
                </a:solidFill>
                <a:latin typeface="Helvetica Neue"/>
              </a:rP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5147" y="297180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5F5B66"/>
                </a:solidFill>
                <a:latin typeface="Helvetica Neue"/>
              </a:rPr>
              <a:t>PROTOTYPE 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89907" y="182880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9907" y="2103120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D3A5A"/>
                </a:solidFill>
                <a:latin typeface="Helvetica Neue"/>
              </a:rPr>
              <a:t>[N]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9907" y="297180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5F5B66"/>
                </a:solidFill>
                <a:latin typeface="Helvetica Neue"/>
              </a:rPr>
              <a:t>CUSTOMER INTERVIEWS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4667" y="1828800"/>
            <a:ext cx="361188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84667" y="2103120"/>
            <a:ext cx="361188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D3A5A"/>
                </a:solidFill>
                <a:latin typeface="Helvetica Neue"/>
              </a:rPr>
              <a:t>[N]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84667" y="2971800"/>
            <a:ext cx="3611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5F5B66"/>
                </a:solidFill>
                <a:latin typeface="Helvetica Neue"/>
              </a:rPr>
              <a:t>PILOTS IN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3840480"/>
            <a:ext cx="10469880" cy="20116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3840480"/>
            <a:ext cx="10378440" cy="201168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02336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spc="160">
                <a:solidFill>
                  <a:srgbClr val="5F5B66"/>
                </a:solidFill>
                <a:latin typeface="Helvetica Neue"/>
              </a:rPr>
              <a:t>VOICE OF 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389120"/>
            <a:ext cx="9738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2D3A5A"/>
                </a:solidFill>
                <a:latin typeface="Helvetica Neue"/>
              </a:rPr>
              <a:t>“[VERBATIM QUOTE FROM A REAL CONSTRUCTION PM, 1–2 SENTENCES.]”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5349240"/>
            <a:ext cx="9738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B66"/>
                </a:solidFill>
                <a:latin typeface="Menlo"/>
              </a:rPr>
              <a:t>[NAME]   ·   [TITLE]   ·   [COMPANY]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9893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5F5B66"/>
                </a:solidFill>
                <a:latin typeface="Helvetica Neue"/>
              </a:rPr>
              <a:t>PILOTS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26364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5F5B66"/>
                </a:solidFill>
                <a:latin typeface="Menlo"/>
              </a:rPr>
              <a:t>[PILOT COMPANY NAME]  —  [STATUS]  —  [START DATE]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05 /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05 — TRACTION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Bottoms-up sizing, beachhead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10469880" cy="128016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10378440" cy="128016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828800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2D3A5A"/>
                </a:solidFill>
                <a:latin typeface="Helvetica Neue"/>
              </a:rPr>
              <a:t>SOM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1828800"/>
            <a:ext cx="6400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5B66"/>
                </a:solidFill>
                <a:latin typeface="Helvetica Neue"/>
              </a:rPr>
              <a:t>[N] supervisors in [REGION] × $[ACV] / yr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1828800"/>
            <a:ext cx="23774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3200" b="1">
                <a:solidFill>
                  <a:srgbClr val="EA580C"/>
                </a:solidFill>
                <a:latin typeface="Helvetica Neue"/>
              </a:rPr>
              <a:t>$[SOM]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273552"/>
            <a:ext cx="104698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3273552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2D3A5A"/>
                </a:solidFill>
                <a:latin typeface="Helvetica Neue"/>
              </a:rPr>
              <a:t>SAM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273552"/>
            <a:ext cx="6400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5B66"/>
                </a:solidFill>
                <a:latin typeface="Helvetica Neue"/>
              </a:rPr>
              <a:t>GCs + enterprise developers in [REGION/COUNTRY]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3273552"/>
            <a:ext cx="23774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3200" b="1">
                <a:solidFill>
                  <a:srgbClr val="2D3A5A"/>
                </a:solidFill>
                <a:latin typeface="Helvetica Neue"/>
              </a:rPr>
              <a:t>$[SAM] 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718304"/>
            <a:ext cx="1046988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4718304"/>
            <a:ext cx="1828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2D3A5A"/>
                </a:solidFill>
                <a:latin typeface="Helvetica Neue"/>
              </a:rPr>
              <a:t>TAM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718304"/>
            <a:ext cx="640080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5B66"/>
                </a:solidFill>
                <a:latin typeface="Helvetica Neue"/>
              </a:rPr>
              <a:t>Global construction software 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4718304"/>
            <a:ext cx="23774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3200" b="1">
                <a:solidFill>
                  <a:srgbClr val="2D3A5A"/>
                </a:solidFill>
                <a:latin typeface="Helvetica Neue"/>
              </a:rPr>
              <a:t>$[TAM]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2648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60">
                <a:solidFill>
                  <a:srgbClr val="8A8693"/>
                </a:solidFill>
                <a:latin typeface="Helvetica Neue"/>
              </a:rPr>
              <a:t>TAM SOURCE: [INSERT INDUSTRY REPORT — IDC / GARTNER / STATISTA]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06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06 —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Voice-first, supervisor-grade. Nobody else.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68680" y="1828800"/>
          <a:ext cx="10469880" cy="22575445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103120"/>
                <a:gridCol w="2468880"/>
                <a:gridCol w="2103120"/>
                <a:gridCol w="2240280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1" spc="80">
                          <a:solidFill>
                            <a:srgbClr val="FFFFFF"/>
                          </a:solidFill>
                          <a:latin typeface="Helvetica Neue"/>
                        </a:rPr>
                        <a:t/>
                      </a:r>
                    </a:p>
                  </a:txBody>
                  <a:tcPr marL="137160" marR="137160" marT="45720" marB="45720" anchor="ctr">
                    <a:solidFill>
                      <a:srgbClr val="2D3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spc="80">
                          <a:solidFill>
                            <a:srgbClr val="FFFFFF"/>
                          </a:solidFill>
                          <a:latin typeface="Helvetica Neue"/>
                        </a:rPr>
                        <a:t>Procore</a:t>
                      </a:r>
                    </a:p>
                  </a:txBody>
                  <a:tcPr marL="137160" marR="137160" marT="45720" marB="45720" anchor="ctr">
                    <a:solidFill>
                      <a:srgbClr val="2D3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spc="80">
                          <a:solidFill>
                            <a:srgbClr val="FFFFFF"/>
                          </a:solidFill>
                          <a:latin typeface="Helvetica Neue"/>
                        </a:rPr>
                        <a:t>Buildots / OpenSpace</a:t>
                      </a:r>
                    </a:p>
                  </a:txBody>
                  <a:tcPr marL="137160" marR="137160" marT="45720" marB="45720" anchor="ctr">
                    <a:solidFill>
                      <a:srgbClr val="2D3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spc="80">
                          <a:solidFill>
                            <a:srgbClr val="FFFFFF"/>
                          </a:solidFill>
                          <a:latin typeface="Helvetica Neue"/>
                        </a:rPr>
                        <a:t>Fieldwire</a:t>
                      </a:r>
                    </a:p>
                  </a:txBody>
                  <a:tcPr marL="137160" marR="137160" marT="45720" marB="45720" anchor="ctr">
                    <a:solidFill>
                      <a:srgbClr val="2D3A5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 spc="80">
                          <a:solidFill>
                            <a:srgbClr val="FFFFFF"/>
                          </a:solidFill>
                          <a:latin typeface="Helvetica Neue"/>
                        </a:rPr>
                        <a:t>Harpa Pro</a:t>
                      </a:r>
                    </a:p>
                  </a:txBody>
                  <a:tcPr marL="137160" marR="137160" marT="45720" marB="45720" anchor="ctr">
                    <a:solidFill>
                      <a:srgbClr val="EA580C"/>
                    </a:solidFill>
                  </a:tcPr>
                </a:tc>
              </a:tr>
              <a:tr h="564385968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Buyer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Enterprise GC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Enterprise GC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Mid-market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Site supervisor</a:t>
                      </a:r>
                    </a:p>
                  </a:txBody>
                  <a:tcPr marL="137160" marR="137160" marT="45720" marB="45720" anchor="ctr">
                    <a:solidFill>
                      <a:srgbClr val="FFFDF8"/>
                    </a:solidFill>
                  </a:tcPr>
                </a:tc>
              </a:tr>
              <a:tr h="564385968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Input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Manual forms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360° camera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Manual forms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Voice</a:t>
                      </a:r>
                    </a:p>
                  </a:txBody>
                  <a:tcPr marL="137160" marR="137160" marT="45720" marB="45720" anchor="ctr">
                    <a:solidFill>
                      <a:srgbClr val="FFFDF8"/>
                    </a:solidFill>
                  </a:tcPr>
                </a:tc>
              </a:tr>
              <a:tr h="564385968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Onboarding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Weeks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Weeks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Days</a:t>
                      </a:r>
                    </a:p>
                  </a:txBody>
                  <a:tcPr marL="137160" marR="13716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Minutes</a:t>
                      </a:r>
                    </a:p>
                  </a:txBody>
                  <a:tcPr marL="137160" marR="137160" marT="45720" marB="45720" anchor="ctr">
                    <a:solidFill>
                      <a:srgbClr val="FFFDF8"/>
                    </a:solidFill>
                  </a:tcPr>
                </a:tc>
              </a:tr>
              <a:tr h="56438596800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Price tier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$$$$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$$$$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5F5B66"/>
                          </a:solidFill>
                          <a:latin typeface="Helvetica Neue"/>
                        </a:rPr>
                        <a:t>$$$</a:t>
                      </a:r>
                    </a:p>
                  </a:txBody>
                  <a:tcPr marL="137160" marR="137160" marT="45720" marB="45720" anchor="ctr">
                    <a:solidFill>
                      <a:srgbClr val="F1EEE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2D3A5A"/>
                          </a:solidFill>
                          <a:latin typeface="Helvetica Neue"/>
                        </a:rPr>
                        <a:t>$</a:t>
                      </a:r>
                    </a:p>
                  </a:txBody>
                  <a:tcPr marL="137160" marR="137160" marT="45720" marB="45720" anchor="ctr"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5212080"/>
            <a:ext cx="10469880" cy="91440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5212080"/>
            <a:ext cx="10378440" cy="91440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534924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OUR WEDGE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5623560"/>
            <a:ext cx="9738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D3A5A"/>
                </a:solidFill>
                <a:latin typeface="Helvetica Neue"/>
              </a:rPr>
              <a:t>Voice-first input  ·  supervisor-grade UX  ·  onboarding in minutes, not weeks.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07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07 — COMPETITION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Per-seat SaaS, land with supervisors.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147" y="2011680"/>
            <a:ext cx="2697480" cy="2697480"/>
          </a:xfrm>
          <a:prstGeom prst="roundRect">
            <a:avLst>
              <a:gd name="adj" fmla="val 5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5147" y="2103120"/>
            <a:ext cx="2697480" cy="26060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9467" y="22860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PRICING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467" y="2880360"/>
            <a:ext cx="2148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>
                <a:solidFill>
                  <a:srgbClr val="2D3A5A"/>
                </a:solidFill>
                <a:latin typeface="Helvetica Neue"/>
              </a:rPr>
              <a:t>$[X]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467" y="4160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F5B66"/>
                </a:solidFill>
                <a:latin typeface="Helvetica Neue"/>
              </a:rPr>
              <a:t>/seat / month, billed annually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9787" y="2011680"/>
            <a:ext cx="26974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04107" y="22860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5F5B66"/>
                </a:solidFill>
                <a:latin typeface="Helvetica Neue"/>
              </a:rPr>
              <a:t>TARGET ACV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4107" y="2880360"/>
            <a:ext cx="2148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>
                <a:solidFill>
                  <a:srgbClr val="2D3A5A"/>
                </a:solidFill>
                <a:latin typeface="Helvetica Neue"/>
              </a:rPr>
              <a:t>$[Y]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4107" y="4160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F5B66"/>
                </a:solidFill>
                <a:latin typeface="Helvetica Neue"/>
              </a:rPr>
              <a:t>≈ [N] seats per company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4427" y="2011680"/>
            <a:ext cx="26974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22860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5F5B66"/>
                </a:solidFill>
                <a:latin typeface="Helvetica Neue"/>
              </a:rPr>
              <a:t>GROSS MARGIN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2880360"/>
            <a:ext cx="2148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4000" b="1">
                <a:solidFill>
                  <a:srgbClr val="2D3A5A"/>
                </a:solidFill>
                <a:latin typeface="Helvetica Neue"/>
              </a:rPr>
              <a:t>[Z]%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4160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F5B66"/>
                </a:solidFill>
                <a:latin typeface="Helvetica Neue"/>
              </a:rPr>
              <a:t>after AI inference cost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9067" y="2011680"/>
            <a:ext cx="269748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73387" y="228600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5F5B66"/>
                </a:solidFill>
                <a:latin typeface="Helvetica Neue"/>
              </a:rPr>
              <a:t>MOTION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73387" y="2880360"/>
            <a:ext cx="2148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2D3A5A"/>
                </a:solidFill>
                <a:latin typeface="Helvetica Neue"/>
              </a:rPr>
              <a:t>Land &amp;</a:t>
            </a:r>
          </a:p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2D3A5A"/>
                </a:solidFill>
                <a:latin typeface="Helvetica Neue"/>
              </a:rPr>
              <a:t>expand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3387" y="4160520"/>
            <a:ext cx="2148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5F5B66"/>
                </a:solidFill>
                <a:latin typeface="Helvetica Neue"/>
              </a:rPr>
              <a:t>supervisor → PM → owner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603504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spc="160">
                <a:solidFill>
                  <a:srgbClr val="8A8693"/>
                </a:solidFill>
                <a:latin typeface="Helvetica Neue"/>
              </a:rPr>
              <a:t>AI INFERENCE COST ≈ $[X] PER ACTIVE USER / MONTH — SHOWN FOR TRANSPARENCY.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08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08 — BUSINESS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Two founders. One product.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92327" y="182880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49527" y="2286000"/>
            <a:ext cx="1737360" cy="1737360"/>
          </a:xfrm>
          <a:prstGeom prst="roundRect">
            <a:avLst>
              <a:gd name="adj" fmla="val 5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49527" y="228600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[PHOTO]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9767" y="24231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D3A5A"/>
                </a:solidFill>
                <a:latin typeface="Helvetica Neue"/>
              </a:rPr>
              <a:t>Haruna Bayoh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9767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CO-FOUNDER · [ROLE]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49527" y="4389120"/>
            <a:ext cx="420624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9527" y="4572000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D3A5A"/>
                </a:solidFill>
                <a:latin typeface="Helvetica Neue"/>
              </a:rPr>
              <a:t>[ONE-LINE WHY-US: prior construction-tech experience,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D3A5A"/>
                </a:solidFill>
                <a:latin typeface="Helvetica Neue"/>
              </a:rPr>
              <a:t>shipped product, language/region advantage,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D3A5A"/>
                </a:solidFill>
                <a:latin typeface="Helvetica Neue"/>
              </a:rPr>
              <a:t>technical depth — pick the strongest.]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78727" y="1828800"/>
            <a:ext cx="512064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735927" y="2286000"/>
            <a:ext cx="1737360" cy="1737360"/>
          </a:xfrm>
          <a:prstGeom prst="roundRect">
            <a:avLst>
              <a:gd name="adj" fmla="val 50000"/>
            </a:avLst>
          </a:prstGeom>
          <a:solidFill>
            <a:srgbClr val="F1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5927" y="2286000"/>
            <a:ext cx="173736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Menlo"/>
              </a:rPr>
              <a:t>[PHOTO]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6167" y="2423160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D3A5A"/>
                </a:solidFill>
                <a:latin typeface="Helvetica Neue"/>
              </a:rPr>
              <a:t>Patrick Chin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56167" y="301752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CO-FOUNDER · [ROLE]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35927" y="4389120"/>
            <a:ext cx="420624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5927" y="4572000"/>
            <a:ext cx="42062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D3A5A"/>
                </a:solidFill>
                <a:latin typeface="Helvetica Neue"/>
              </a:rPr>
              <a:t>[ONE-LINE WHY-US: what you've built and shipped,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D3A5A"/>
                </a:solidFill>
                <a:latin typeface="Helvetica Neue"/>
              </a:rPr>
              <a:t>relevant domain experience.]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09 /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09 — TEAM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868680"/>
            <a:ext cx="10469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D3A5A"/>
                </a:solidFill>
                <a:latin typeface="Helvetica Neue"/>
              </a:rPr>
              <a:t>What we need, what it buys.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60020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69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A580C"/>
                </a:solidFill>
                <a:latin typeface="Helvetica Neue"/>
              </a:rPr>
              <a:t>$200,000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10469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D3A5A"/>
                </a:solidFill>
                <a:latin typeface="Menlo"/>
              </a:rPr>
              <a:t>SAFE   ·   $[CAP] M post-money cap   ·   18 months runway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023360"/>
            <a:ext cx="5097780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4251960"/>
            <a:ext cx="5097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617720"/>
            <a:ext cx="45491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2D3A5A"/>
                </a:solidFill>
                <a:latin typeface="Helvetica Neue"/>
              </a:rPr>
              <a:t>—  [N] paying pilots in [REGION]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2D3A5A"/>
                </a:solidFill>
                <a:latin typeface="Helvetica Neue"/>
              </a:rPr>
              <a:t>—  $[MRR] MRR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2D3A5A"/>
                </a:solidFill>
                <a:latin typeface="Helvetica Neue"/>
              </a:rPr>
              <a:t>—  [PRODUCT MILESTONE]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0780" y="4023360"/>
            <a:ext cx="5097780" cy="1920240"/>
          </a:xfrm>
          <a:prstGeom prst="roundRect">
            <a:avLst>
              <a:gd name="adj" fmla="val 5000"/>
            </a:avLst>
          </a:prstGeom>
          <a:solidFill>
            <a:srgbClr val="FFFDF8"/>
          </a:solidFill>
          <a:ln w="9525">
            <a:solidFill>
              <a:srgbClr val="B9B4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5100" y="4251960"/>
            <a:ext cx="50977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spc="160">
                <a:solidFill>
                  <a:srgbClr val="EA580C"/>
                </a:solidFill>
                <a:latin typeface="Helvetica Neue"/>
              </a:rPr>
              <a:t>USE OF FUNDS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617720"/>
            <a:ext cx="454914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>
                <a:solidFill>
                  <a:srgbClr val="2D3A5A"/>
                </a:solidFill>
                <a:latin typeface="Helvetica Neue"/>
              </a:rPr>
              <a:t>—  [%] product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2D3A5A"/>
                </a:solidFill>
                <a:latin typeface="Helvetica Neue"/>
              </a:rPr>
              <a:t>—  [%] AI inference</a:t>
            </a:r>
          </a:p>
          <a:p>
            <a:pPr algn="l">
              <a:lnSpc>
                <a:spcPct val="150000"/>
              </a:lnSpc>
            </a:pPr>
            <a:r>
              <a:rPr sz="1400">
                <a:solidFill>
                  <a:srgbClr val="2D3A5A"/>
                </a:solidFill>
                <a:latin typeface="Helvetica Neue"/>
              </a:rPr>
              <a:t>—  [%] go-to-market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6126480"/>
            <a:ext cx="10469880" cy="6350"/>
          </a:xfrm>
          <a:prstGeom prst="rect">
            <a:avLst/>
          </a:prstGeom>
          <a:solidFill>
            <a:srgbClr val="B9B4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263640"/>
            <a:ext cx="10469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2D3A5A"/>
                </a:solidFill>
                <a:latin typeface="Menlo"/>
              </a:rPr>
              <a:t>Haruna Bayoh   ·   haruna@harpapro.com   ·   +86 156 6257 5731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6492240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6446520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2D3A5A"/>
                </a:solidFill>
                <a:latin typeface="Helvetica Neue"/>
              </a:rPr>
              <a:t>Harpa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41280" y="64465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A8693"/>
                </a:solidFill>
                <a:latin typeface="Menlo"/>
              </a:rPr>
              <a:t>10 / 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6446520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spc="160">
                <a:solidFill>
                  <a:srgbClr val="8A8693"/>
                </a:solidFill>
                <a:latin typeface="Helvetica Neue"/>
              </a:rPr>
              <a:t>SLIDE 10 — ASK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