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CE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2D3A5A"/>
                </a:solidFill>
                <a:latin typeface="Helvetica Neue"/>
              </a:rPr>
              <a:t>Voice notes turn into AI-structured site reports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2D3A5A"/>
                </a:solidFill>
                <a:latin typeface="Helvetica Neue"/>
              </a:rPr>
              <a:t>for construction supervisors.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846320"/>
            <a:ext cx="228600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60">
                <a:solidFill>
                  <a:srgbClr val="5F5B66"/>
                </a:solidFill>
                <a:latin typeface="Helvetica Neue"/>
              </a:rPr>
              <a:t>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D3A5A"/>
                </a:solidFill>
                <a:latin typeface="Helvetica Neue"/>
              </a:rPr>
              <a:t>Haruna Bayoh  ·  Patrick Chin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60">
                <a:solidFill>
                  <a:srgbClr val="5F5B66"/>
                </a:solidFill>
                <a:latin typeface="Helvetica Neue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F5B66"/>
                </a:solidFill>
                <a:latin typeface="Menlo"/>
              </a:rPr>
              <a:t>haruna@harpapro.com   ·   +86 156 6257 5731   ·   [MONTH YEAR]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Voice in. Structured site report 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69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A site supervisor speaks into their phone. Harpa Pro transcribes,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structures, and turns the voice note into a daily site report —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weather, headcount, materials, flagged issues — in under a minute.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471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1471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471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Site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supervisor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7663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37663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7663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Voice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note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3855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73855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3855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Transcribe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10047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0047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0047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Structured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6239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6239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6239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Attach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media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82431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82431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2431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Generate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D3A5A"/>
                </a:solidFill>
                <a:latin typeface="Helvetica Neue"/>
              </a:rPr>
              <a:t>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8623" y="4297680"/>
            <a:ext cx="1371600" cy="132588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18623" y="44348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FFE6D5"/>
                </a:solidFill>
                <a:latin typeface="Menlo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8623" y="470916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Helvetica Neue"/>
              </a:rPr>
              <a:t>Export /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Helvetica Neue"/>
              </a:rPr>
              <a:t>share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02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02 — PRODUCT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Site reports are slow, lossy, and unsearchable.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10469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400" b="1" dirty="0">
                <a:solidFill>
                  <a:srgbClr val="EA580C"/>
                </a:solidFill>
                <a:latin typeface="Helvetica Neue"/>
              </a:rPr>
              <a:t>3</a:t>
            </a:r>
            <a:r>
              <a:rPr lang="en-GB" sz="8400" b="1" dirty="0">
                <a:solidFill>
                  <a:srgbClr val="EA580C"/>
                </a:solidFill>
                <a:latin typeface="Helvetica Neue"/>
              </a:rPr>
              <a:t>-</a:t>
            </a:r>
            <a:r>
              <a:rPr sz="8400" b="1" dirty="0">
                <a:solidFill>
                  <a:srgbClr val="EA580C"/>
                </a:solidFill>
                <a:latin typeface="Helvetica Neue"/>
              </a:rPr>
              <a:t>8 </a:t>
            </a:r>
            <a:r>
              <a:rPr sz="8400" b="1" dirty="0" err="1">
                <a:solidFill>
                  <a:srgbClr val="EA580C"/>
                </a:solidFill>
                <a:latin typeface="Helvetica Neue"/>
              </a:rPr>
              <a:t>hrs</a:t>
            </a:r>
            <a:endParaRPr sz="8400" b="1" dirty="0">
              <a:solidFill>
                <a:srgbClr val="EA580C"/>
              </a:solidFill>
              <a:latin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315468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2D3A5A"/>
                </a:solidFill>
                <a:latin typeface="Helvetica Neue"/>
              </a:rPr>
              <a:t>per week per manager  —  lost to manual report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spc="160">
                <a:solidFill>
                  <a:srgbClr val="8A8693"/>
                </a:solidFill>
                <a:latin typeface="Helvetica Neue"/>
              </a:rPr>
              <a:t>SOURCE: HARPA PRO INTERNAL DATA + [INSERT EXTERNAL CITATION]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147" y="42976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9467" y="457200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MEMORY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493776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Critical site details forgotten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before they're written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907" y="42976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4227" y="457200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VISIBILITY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227" y="493776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Owners and PMs lose visibility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into day-to-day progress.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2976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58987" y="457200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AUDIT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8987" y="493776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Risk and incident data never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D3A5A"/>
                </a:solidFill>
                <a:latin typeface="Helvetica Neue"/>
              </a:rPr>
              <a:t>make it into the audit trail.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03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03 —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The 90%-complete prototype.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98167" y="1828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NEW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8167" y="210312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Voice-note list, timestamps,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Generate-report button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98167" y="2788920"/>
            <a:ext cx="25603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026767" y="3017520"/>
            <a:ext cx="2103120" cy="274320"/>
          </a:xfrm>
          <a:prstGeom prst="roundRect">
            <a:avLst>
              <a:gd name="adj" fmla="val 3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072487" y="352044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2487" y="402336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072487" y="452628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072487" y="502920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15687" y="1828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DAILY PROGRESS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5687" y="210312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Structured: weather, headcount,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materials, flagged issues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5687" y="2788920"/>
            <a:ext cx="25603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44287" y="3017520"/>
            <a:ext cx="2103120" cy="274320"/>
          </a:xfrm>
          <a:prstGeom prst="roundRect">
            <a:avLst>
              <a:gd name="adj" fmla="val 3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90007" y="352044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90007" y="402336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090007" y="452628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090007" y="502920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33207" y="1828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REPORTS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3207" y="210312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History with DRAFT, Incident,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5B66"/>
                </a:solidFill>
                <a:latin typeface="Helvetica Neue"/>
              </a:rPr>
              <a:t>Safety status tags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33207" y="2788920"/>
            <a:ext cx="25603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61807" y="3017520"/>
            <a:ext cx="2103120" cy="274320"/>
          </a:xfrm>
          <a:prstGeom prst="roundRect">
            <a:avLst>
              <a:gd name="adj" fmla="val 3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107527" y="352044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07527" y="402336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107527" y="452628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107527" y="5029200"/>
            <a:ext cx="2011680" cy="320040"/>
          </a:xfrm>
          <a:prstGeom prst="roundRect">
            <a:avLst>
              <a:gd name="adj" fmla="val 2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6217920"/>
            <a:ext cx="10469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8A8693"/>
                </a:solidFill>
                <a:latin typeface="Menlo"/>
              </a:rPr>
              <a:t>Mock frames — replace with real screenshots before sending.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04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04 — PRODUCT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Where we are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182880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86587" y="182880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5147" y="2103120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>
                <a:solidFill>
                  <a:srgbClr val="2D3A5A"/>
                </a:solidFill>
                <a:latin typeface="Helvetica Neue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147" y="2971800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PROTOTYPE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9907" y="182880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89907" y="2103120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>
                <a:solidFill>
                  <a:srgbClr val="2D3A5A"/>
                </a:solidFill>
                <a:latin typeface="Helvetica Neue"/>
              </a:rPr>
              <a:t>[N]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9907" y="2971800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CUSTOMER INTERVIEWS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4667" y="182880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84667" y="2103120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>
                <a:solidFill>
                  <a:srgbClr val="2D3A5A"/>
                </a:solidFill>
                <a:latin typeface="Helvetica Neue"/>
              </a:rPr>
              <a:t>[N]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4667" y="2971800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PILOTS IN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40480"/>
            <a:ext cx="10469880" cy="201168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0120" y="3840480"/>
            <a:ext cx="10378440" cy="201168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40" y="402336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60">
                <a:solidFill>
                  <a:srgbClr val="5F5B66"/>
                </a:solidFill>
                <a:latin typeface="Helvetica Neue"/>
              </a:rPr>
              <a:t>VOICE OF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89120"/>
            <a:ext cx="9738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D3A5A"/>
                </a:solidFill>
                <a:latin typeface="Helvetica Neue"/>
              </a:rPr>
              <a:t>“[VERBATIM QUOTE FROM A REAL CONSTRUCTION PM, 1–2 SENTENCES.]”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349240"/>
            <a:ext cx="9738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F5B66"/>
                </a:solidFill>
                <a:latin typeface="Menlo"/>
              </a:rPr>
              <a:t>[NAME]   ·   [TITLE]   ·   [COMPANY]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9893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PILOTS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6364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F5B66"/>
                </a:solidFill>
                <a:latin typeface="Menlo"/>
              </a:rPr>
              <a:t>[PILOT COMPANY NAME]  —  [STATUS]  —  [START DATE]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05 /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05 — TRACTION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Bottoms-up sizing, beachhead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10469880" cy="128016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60120" y="1828800"/>
            <a:ext cx="10378440" cy="128016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34440" y="182880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2D3A5A"/>
                </a:solidFill>
                <a:latin typeface="Helvetica Neue"/>
              </a:rPr>
              <a:t>SOM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828800"/>
            <a:ext cx="64008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F5B66"/>
                </a:solidFill>
                <a:latin typeface="Helvetica Neue"/>
              </a:rPr>
              <a:t>[N] supervisors in [REGION] × $[ACV] / 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828800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3200" b="1">
                <a:solidFill>
                  <a:srgbClr val="EA580C"/>
                </a:solidFill>
                <a:latin typeface="Helvetica Neue"/>
              </a:rPr>
              <a:t>$[SOM]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273552"/>
            <a:ext cx="104698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3273552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2D3A5A"/>
                </a:solidFill>
                <a:latin typeface="Helvetica Neue"/>
              </a:rP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273552"/>
            <a:ext cx="64008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F5B66"/>
                </a:solidFill>
                <a:latin typeface="Helvetica Neue"/>
              </a:rPr>
              <a:t>GCs + enterprise developers in [REGION/COUNTRY]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735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3200" b="1">
                <a:solidFill>
                  <a:srgbClr val="2D3A5A"/>
                </a:solidFill>
                <a:latin typeface="Helvetica Neue"/>
              </a:rPr>
              <a:t>$[SAM]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718304"/>
            <a:ext cx="104698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40" y="4718304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2D3A5A"/>
                </a:solidFill>
                <a:latin typeface="Helvetica Neue"/>
              </a:rPr>
              <a:t>TAM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718304"/>
            <a:ext cx="64008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F5B66"/>
                </a:solidFill>
                <a:latin typeface="Helvetica Neue"/>
              </a:rPr>
              <a:t>Global construction software market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718304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3200" b="1">
                <a:solidFill>
                  <a:srgbClr val="2D3A5A"/>
                </a:solidFill>
                <a:latin typeface="Helvetica Neue"/>
              </a:rPr>
              <a:t>$[TAM]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12648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spc="160">
                <a:solidFill>
                  <a:srgbClr val="8A8693"/>
                </a:solidFill>
                <a:latin typeface="Helvetica Neue"/>
              </a:rPr>
              <a:t>TAM SOURCE: [INSERT INDUSTRY REPORT — IDC / GARTNER / STATISTA]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06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06 — MARKET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Voice-first, supervisor-grade. Nobody else.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828800"/>
          <a:ext cx="10469880" cy="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37160" marR="137160" anchor="ctr">
                    <a:solidFill>
                      <a:srgbClr val="2D3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spc="80">
                          <a:solidFill>
                            <a:srgbClr val="FFFFFF"/>
                          </a:solidFill>
                          <a:latin typeface="Helvetica Neue"/>
                        </a:rPr>
                        <a:t>Procore</a:t>
                      </a:r>
                    </a:p>
                  </a:txBody>
                  <a:tcPr marL="137160" marR="137160" anchor="ctr">
                    <a:solidFill>
                      <a:srgbClr val="2D3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spc="80">
                          <a:solidFill>
                            <a:srgbClr val="FFFFFF"/>
                          </a:solidFill>
                          <a:latin typeface="Helvetica Neue"/>
                        </a:rPr>
                        <a:t>Buildots / OpenSpace</a:t>
                      </a:r>
                    </a:p>
                  </a:txBody>
                  <a:tcPr marL="137160" marR="137160" anchor="ctr">
                    <a:solidFill>
                      <a:srgbClr val="2D3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spc="80">
                          <a:solidFill>
                            <a:srgbClr val="FFFFFF"/>
                          </a:solidFill>
                          <a:latin typeface="Helvetica Neue"/>
                        </a:rPr>
                        <a:t>Fieldwire</a:t>
                      </a:r>
                    </a:p>
                  </a:txBody>
                  <a:tcPr marL="137160" marR="137160" anchor="ctr">
                    <a:solidFill>
                      <a:srgbClr val="2D3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spc="80">
                          <a:solidFill>
                            <a:srgbClr val="FFFFFF"/>
                          </a:solidFill>
                          <a:latin typeface="Helvetica Neue"/>
                        </a:rPr>
                        <a:t>Harpa Pro</a:t>
                      </a:r>
                    </a:p>
                  </a:txBody>
                  <a:tcPr marL="137160" marR="137160" anchor="ctr">
                    <a:solidFill>
                      <a:srgbClr val="EA58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Buyer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Enterprise GC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Enterprise GC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Mid-market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Site supervisor</a:t>
                      </a:r>
                    </a:p>
                  </a:txBody>
                  <a:tcPr marL="137160" marR="137160" anchor="ctr"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Input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Manual forms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360° camera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Manual forms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Voice</a:t>
                      </a:r>
                    </a:p>
                  </a:txBody>
                  <a:tcPr marL="137160" marR="137160" anchor="ctr"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Onboarding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Days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Minutes</a:t>
                      </a:r>
                    </a:p>
                  </a:txBody>
                  <a:tcPr marL="137160" marR="137160" anchor="ctr"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Price tier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$$$$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$$$$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F5B66"/>
                          </a:solidFill>
                          <a:latin typeface="Helvetica Neue"/>
                        </a:rPr>
                        <a:t>$$$</a:t>
                      </a:r>
                    </a:p>
                  </a:txBody>
                  <a:tcPr marL="137160" marR="137160" anchor="ctr"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D3A5A"/>
                          </a:solidFill>
                          <a:latin typeface="Helvetica Neue"/>
                        </a:rPr>
                        <a:t>$</a:t>
                      </a:r>
                    </a:p>
                  </a:txBody>
                  <a:tcPr marL="137160" marR="137160" anchor="ctr"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5212080"/>
            <a:ext cx="10469880" cy="91440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5212080"/>
            <a:ext cx="10378440" cy="9144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534924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OUR WEDGE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623560"/>
            <a:ext cx="9738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D3A5A"/>
                </a:solidFill>
                <a:latin typeface="Helvetica Neue"/>
              </a:rPr>
              <a:t>Voice-first input  ·  supervisor-grade UX  ·  onboarding in minutes, not weeks.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07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07 — COMPETITION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Per-seat SaaS, land with supervisors.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95147" y="2103120"/>
            <a:ext cx="2697480" cy="260604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9467" y="228600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88036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>
                <a:solidFill>
                  <a:srgbClr val="2D3A5A"/>
                </a:solidFill>
                <a:latin typeface="Helvetica Neue"/>
              </a:rPr>
              <a:t>$[X]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416052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/seat / month, billed annually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978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04107" y="228600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TARGET ACV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4107" y="288036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>
                <a:solidFill>
                  <a:srgbClr val="2D3A5A"/>
                </a:solidFill>
                <a:latin typeface="Helvetica Neue"/>
              </a:rPr>
              <a:t>$[Y]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4107" y="416052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≈ [N] seats per company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442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8747" y="228600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GROSS 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47" y="288036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>
                <a:solidFill>
                  <a:srgbClr val="2D3A5A"/>
                </a:solidFill>
                <a:latin typeface="Helvetica Neue"/>
              </a:rPr>
              <a:t>[Z]%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747" y="416052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after AI inference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9067" y="2011680"/>
            <a:ext cx="26974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3387" y="228600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5F5B66"/>
                </a:solidFill>
                <a:latin typeface="Helvetica Neue"/>
              </a:rPr>
              <a:t>MOTION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3387" y="288036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2D3A5A"/>
                </a:solidFill>
                <a:latin typeface="Helvetica Neue"/>
              </a:rPr>
              <a:t>Land &amp;</a:t>
            </a:r>
          </a:p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2D3A5A"/>
                </a:solidFill>
                <a:latin typeface="Helvetica Neue"/>
              </a:rPr>
              <a:t>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3387" y="416052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5F5B66"/>
                </a:solidFill>
                <a:latin typeface="Helvetica Neue"/>
              </a:rPr>
              <a:t>supervisor → PM → owner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3504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spc="160">
                <a:solidFill>
                  <a:srgbClr val="8A8693"/>
                </a:solidFill>
                <a:latin typeface="Helvetica Neue"/>
              </a:rPr>
              <a:t>AI INFERENCE COST ≈ $[X] PER ACTIVE USER / MONTH — SHOWN FOR TRANSPARENCY.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08 /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08 — BUSINESS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Two founders. One product.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327" y="1828800"/>
            <a:ext cx="51206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49527" y="2286000"/>
            <a:ext cx="1737360" cy="1737360"/>
          </a:xfrm>
          <a:prstGeom prst="roundRect">
            <a:avLst>
              <a:gd name="adj" fmla="val 5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49527" y="2286000"/>
            <a:ext cx="173736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[PHOTO]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9767" y="242316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2D3A5A"/>
                </a:solidFill>
                <a:latin typeface="Helvetica Neue"/>
              </a:rPr>
              <a:t>Haruna Bayoh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9767" y="30175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CO-FOUNDER · [ROLE]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49527" y="4389120"/>
            <a:ext cx="420624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49527" y="4572000"/>
            <a:ext cx="4206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[ONE-LINE WHY-US: prior construction-tech experience,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shipped product, language/region advantage,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technical depth — pick the strongest.]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828800"/>
            <a:ext cx="51206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35927" y="2286000"/>
            <a:ext cx="1737360" cy="1737360"/>
          </a:xfrm>
          <a:prstGeom prst="roundRect">
            <a:avLst>
              <a:gd name="adj" fmla="val 50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35927" y="2286000"/>
            <a:ext cx="173736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Menlo"/>
              </a:rPr>
              <a:t>[PHOTO]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6167" y="242316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2D3A5A"/>
                </a:solidFill>
                <a:latin typeface="Helvetica Neue"/>
              </a:rPr>
              <a:t>Patrick Chin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6167" y="30175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CO-FOUNDER · [ROLE]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5927" y="4389120"/>
            <a:ext cx="420624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35927" y="4572000"/>
            <a:ext cx="4206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[ONE-LINE WHY-US: what you've built and shipped,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D3A5A"/>
                </a:solidFill>
                <a:latin typeface="Helvetica Neue"/>
              </a:rPr>
              <a:t>relevant domain experience.]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09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09 — TEAM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469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2D3A5A"/>
                </a:solidFill>
                <a:latin typeface="Helvetica Neue"/>
              </a:rPr>
              <a:t>What we need, what it buys.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69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0" b="1">
                <a:solidFill>
                  <a:srgbClr val="EA580C"/>
                </a:solidFill>
                <a:latin typeface="Helvetica Neue"/>
              </a:rPr>
              <a:t>$200,000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D3A5A"/>
                </a:solidFill>
                <a:latin typeface="Menlo"/>
              </a:rPr>
              <a:t>SAFE   ·   $[CAP] M post-money cap   ·   18 months runway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023360"/>
            <a:ext cx="50977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1960"/>
            <a:ext cx="50977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MILESTONES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617720"/>
            <a:ext cx="454914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[N] paying pilots in [REGION]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$[MRR] MRR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[PRODUCT MILESTONE]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4023360"/>
            <a:ext cx="5097780" cy="192024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B9B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5100" y="4251960"/>
            <a:ext cx="50977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160">
                <a:solidFill>
                  <a:srgbClr val="EA580C"/>
                </a:solidFill>
                <a:latin typeface="Helvetica Neue"/>
              </a:rPr>
              <a:t>USE OF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4617720"/>
            <a:ext cx="454914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[%] product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[%] AI inference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2D3A5A"/>
                </a:solidFill>
                <a:latin typeface="Helvetica Neue"/>
              </a:rPr>
              <a:t>—  [%] go-to-market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26480"/>
            <a:ext cx="10469880" cy="6350"/>
          </a:xfrm>
          <a:prstGeom prst="rect">
            <a:avLst/>
          </a:prstGeom>
          <a:solidFill>
            <a:srgbClr val="B9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D3A5A"/>
                </a:solidFill>
                <a:latin typeface="Menlo"/>
              </a:rPr>
              <a:t>Haruna Bayoh   ·   haruna@harpapro.com   ·   +86 156 6257 5731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6492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3A5A"/>
                </a:solidFill>
                <a:latin typeface="Helvetica Neue"/>
              </a:rPr>
              <a:t>Harpa Pro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A8693"/>
                </a:solidFill>
                <a:latin typeface="Menlo"/>
              </a:rPr>
              <a:t>10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644652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60">
                <a:solidFill>
                  <a:srgbClr val="8A8693"/>
                </a:solidFill>
                <a:latin typeface="Helvetica Neue"/>
              </a:rPr>
              <a:t>SLIDE 10 — ASK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701</Words>
  <Application>Microsoft Macintosh PowerPoint</Application>
  <PresentationFormat>Widescreen</PresentationFormat>
  <Paragraphs>180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Helvetica Neue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Patrick Chin</cp:lastModifiedBy>
  <cp:revision>3</cp:revision>
  <dcterms:created xsi:type="dcterms:W3CDTF">2013-01-27T09:14:16Z</dcterms:created>
  <dcterms:modified xsi:type="dcterms:W3CDTF">2026-05-06T17:36:18Z</dcterms:modified>
  <cp:category/>
</cp:coreProperties>
</file>