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ECE8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137160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0" b="1">
                <a:solidFill>
                  <a:srgbClr val="2D3A5A"/>
                </a:solidFill>
                <a:latin typeface="Helvetica Neue"/>
              </a:rPr>
              <a:t>Harpa Pro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20040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>
                <a:solidFill>
                  <a:srgbClr val="2D3A5A"/>
                </a:solidFill>
                <a:latin typeface="Helvetica Neue"/>
              </a:rPr>
              <a:t>Voice notes turn into AI-structured site reports</a:t>
            </a:r>
          </a:p>
          <a:p>
            <a:pPr algn="l">
              <a:lnSpc>
                <a:spcPct val="130000"/>
              </a:lnSpc>
            </a:pPr>
            <a:r>
              <a:rPr sz="2200" b="0">
                <a:solidFill>
                  <a:srgbClr val="2D3A5A"/>
                </a:solidFill>
                <a:latin typeface="Helvetica Neue"/>
              </a:rPr>
              <a:t>for construction supervisors.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4846320"/>
            <a:ext cx="2286000" cy="6350"/>
          </a:xfrm>
          <a:prstGeom prst="rect">
            <a:avLst/>
          </a:prstGeom>
          <a:solidFill>
            <a:srgbClr val="B9B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029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spc="160">
                <a:solidFill>
                  <a:srgbClr val="5F5B66"/>
                </a:solidFill>
                <a:latin typeface="Helvetica Neue"/>
              </a:rPr>
              <a:t>FOUNDERS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492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D3A5A"/>
                </a:solidFill>
                <a:latin typeface="Helvetica Neue"/>
              </a:rPr>
              <a:t>Haruna Bayoh  ·  Patrick Chin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85216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spc="160">
                <a:solidFill>
                  <a:srgbClr val="5F5B66"/>
                </a:solidFill>
                <a:latin typeface="Helvetica Neue"/>
              </a:rPr>
              <a:t>CONTACT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6172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5B66"/>
                </a:solidFill>
                <a:latin typeface="Menlo"/>
              </a:rPr>
              <a:t>haruna@harpapro.com   ·   +86 156 6257 5731   ·   [MONTH YEAR]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spc="160">
                <a:solidFill>
                  <a:srgbClr val="EA580C"/>
                </a:solidFill>
                <a:latin typeface="Helvetica Neue"/>
              </a:rPr>
              <a:t>WHAT WE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868680"/>
            <a:ext cx="10469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2D3A5A"/>
                </a:solidFill>
                <a:latin typeface="Helvetica Neue"/>
              </a:rPr>
              <a:t>Voice in. Structured site report out.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600200"/>
            <a:ext cx="10469880" cy="6350"/>
          </a:xfrm>
          <a:prstGeom prst="rect">
            <a:avLst/>
          </a:prstGeom>
          <a:solidFill>
            <a:srgbClr val="B9B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4698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>
                <a:solidFill>
                  <a:srgbClr val="2D3A5A"/>
                </a:solidFill>
                <a:latin typeface="Helvetica Neue"/>
              </a:rPr>
              <a:t>A site supervisor speaks into their phone. Harpa Pro transcribes,</a:t>
            </a:r>
          </a:p>
          <a:p>
            <a:pPr algn="l">
              <a:lnSpc>
                <a:spcPct val="140000"/>
              </a:lnSpc>
            </a:pPr>
            <a:r>
              <a:rPr sz="1800" b="0">
                <a:solidFill>
                  <a:srgbClr val="2D3A5A"/>
                </a:solidFill>
                <a:latin typeface="Helvetica Neue"/>
              </a:rPr>
              <a:t>structures, and turns the voice note into a daily site report —</a:t>
            </a:r>
          </a:p>
          <a:p>
            <a:pPr algn="l">
              <a:lnSpc>
                <a:spcPct val="140000"/>
              </a:lnSpc>
            </a:pPr>
            <a:r>
              <a:rPr sz="1800" b="0">
                <a:solidFill>
                  <a:srgbClr val="2D3A5A"/>
                </a:solidFill>
                <a:latin typeface="Helvetica Neue"/>
              </a:rPr>
              <a:t>weather, headcount, materials, flagged issues — in under a minute.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471" y="4297680"/>
            <a:ext cx="137160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9B4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1471" y="443484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spc="160">
                <a:solidFill>
                  <a:srgbClr val="8A8693"/>
                </a:solidFill>
                <a:latin typeface="Menlo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1471" y="4709160"/>
            <a:ext cx="1371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2D3A5A"/>
                </a:solidFill>
                <a:latin typeface="Helvetica Neue"/>
              </a:rPr>
              <a:t>Site</a:t>
            </a:r>
          </a:p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2D3A5A"/>
                </a:solidFill>
                <a:latin typeface="Helvetica Neue"/>
              </a:rPr>
              <a:t>supervisor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37663" y="4297680"/>
            <a:ext cx="137160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9B4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37663" y="443484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spc="160">
                <a:solidFill>
                  <a:srgbClr val="8A8693"/>
                </a:solidFill>
                <a:latin typeface="Menlo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37663" y="4709160"/>
            <a:ext cx="1371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2D3A5A"/>
                </a:solidFill>
                <a:latin typeface="Helvetica Neue"/>
              </a:rPr>
              <a:t>Voice</a:t>
            </a:r>
          </a:p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2D3A5A"/>
                </a:solidFill>
                <a:latin typeface="Helvetica Neue"/>
              </a:rPr>
              <a:t>note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73855" y="4297680"/>
            <a:ext cx="137160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9B4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73855" y="443484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spc="160">
                <a:solidFill>
                  <a:srgbClr val="8A8693"/>
                </a:solidFill>
                <a:latin typeface="Menlo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73855" y="4709160"/>
            <a:ext cx="1371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2D3A5A"/>
                </a:solidFill>
                <a:latin typeface="Helvetica Neue"/>
              </a:rPr>
              <a:t>Transcribe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10047" y="4297680"/>
            <a:ext cx="137160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9B4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0047" y="443484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spc="160">
                <a:solidFill>
                  <a:srgbClr val="8A8693"/>
                </a:solidFill>
                <a:latin typeface="Menlo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10047" y="4709160"/>
            <a:ext cx="1371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2D3A5A"/>
                </a:solidFill>
                <a:latin typeface="Helvetica Neue"/>
              </a:rPr>
              <a:t>Structured</a:t>
            </a:r>
          </a:p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2D3A5A"/>
                </a:solidFill>
                <a:latin typeface="Helvetica Neue"/>
              </a:rPr>
              <a:t>data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46239" y="4297680"/>
            <a:ext cx="137160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9B4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46239" y="443484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spc="160">
                <a:solidFill>
                  <a:srgbClr val="8A8693"/>
                </a:solidFill>
                <a:latin typeface="Menlo"/>
              </a:rPr>
              <a:t>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6239" y="4709160"/>
            <a:ext cx="1371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2D3A5A"/>
                </a:solidFill>
                <a:latin typeface="Helvetica Neue"/>
              </a:rPr>
              <a:t>Attach</a:t>
            </a:r>
          </a:p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2D3A5A"/>
                </a:solidFill>
                <a:latin typeface="Helvetica Neue"/>
              </a:rPr>
              <a:t>media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82431" y="4297680"/>
            <a:ext cx="137160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9B4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82431" y="443484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spc="160">
                <a:solidFill>
                  <a:srgbClr val="8A8693"/>
                </a:solidFill>
                <a:latin typeface="Menlo"/>
              </a:rPr>
              <a:t>06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82431" y="4709160"/>
            <a:ext cx="1371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2D3A5A"/>
                </a:solidFill>
                <a:latin typeface="Helvetica Neue"/>
              </a:rPr>
              <a:t>Generate</a:t>
            </a:r>
          </a:p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2D3A5A"/>
                </a:solidFill>
                <a:latin typeface="Helvetica Neue"/>
              </a:rPr>
              <a:t>report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18623" y="4297680"/>
            <a:ext cx="1371600" cy="1325880"/>
          </a:xfrm>
          <a:prstGeom prst="roundRect">
            <a:avLst>
              <a:gd name="adj" fmla="val 8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18623" y="443484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spc="160">
                <a:solidFill>
                  <a:srgbClr val="FFE6D5"/>
                </a:solidFill>
                <a:latin typeface="Menlo"/>
              </a:rPr>
              <a:t>07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18623" y="4709160"/>
            <a:ext cx="1371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Helvetica Neue"/>
              </a:rPr>
              <a:t>Export /</a:t>
            </a:r>
          </a:p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Helvetica Neue"/>
              </a:rPr>
              <a:t>share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68680" y="6492240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644652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D3A5A"/>
                </a:solidFill>
                <a:latin typeface="Helvetica Neue"/>
              </a:rPr>
              <a:t>Harpa Pro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41280" y="644652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8693"/>
                </a:solidFill>
                <a:latin typeface="Menlo"/>
              </a:rPr>
              <a:t>02 / 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00400" y="6446520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spc="160">
                <a:solidFill>
                  <a:srgbClr val="8A8693"/>
                </a:solidFill>
                <a:latin typeface="Helvetica Neue"/>
              </a:rPr>
              <a:t>SLIDE 02 — PRODUCT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spc="160">
                <a:solidFill>
                  <a:srgbClr val="EA580C"/>
                </a:solidFill>
                <a:latin typeface="Helvetica Neue"/>
              </a:rPr>
              <a:t>WHY IT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868680"/>
            <a:ext cx="10469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2D3A5A"/>
                </a:solidFill>
                <a:latin typeface="Helvetica Neue"/>
              </a:rPr>
              <a:t>Site reports are slow, lossy, and unsearchable.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600200"/>
            <a:ext cx="10469880" cy="6350"/>
          </a:xfrm>
          <a:prstGeom prst="rect">
            <a:avLst/>
          </a:prstGeom>
          <a:solidFill>
            <a:srgbClr val="B9B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20240"/>
            <a:ext cx="104698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400" b="1">
                <a:solidFill>
                  <a:srgbClr val="EA580C"/>
                </a:solidFill>
                <a:latin typeface="Helvetica Neue"/>
              </a:rPr>
              <a:t>3–8 hrs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154680"/>
            <a:ext cx="10469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2D3A5A"/>
                </a:solidFill>
                <a:latin typeface="Helvetica Neue"/>
              </a:rPr>
              <a:t>per week per manager  —  lost to manual report writing.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657600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spc="160">
                <a:solidFill>
                  <a:srgbClr val="8A8693"/>
                </a:solidFill>
                <a:latin typeface="Helvetica Neue"/>
              </a:rPr>
              <a:t>SOURCE: HARPA PRO INTERNAL DATA + [INSERT EXTERNAL CITATION]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5147" y="4297680"/>
            <a:ext cx="361188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9B4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9467" y="4572000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spc="160">
                <a:solidFill>
                  <a:srgbClr val="EA580C"/>
                </a:solidFill>
                <a:latin typeface="Helvetica Neue"/>
              </a:rPr>
              <a:t>MEMORY LOSS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9467" y="4937760"/>
            <a:ext cx="3063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2D3A5A"/>
                </a:solidFill>
                <a:latin typeface="Helvetica Neue"/>
              </a:rPr>
              <a:t>Critical site details forgotten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2D3A5A"/>
                </a:solidFill>
                <a:latin typeface="Helvetica Neue"/>
              </a:rPr>
              <a:t>before they're written down.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9907" y="4297680"/>
            <a:ext cx="361188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9B4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64227" y="4572000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spc="160">
                <a:solidFill>
                  <a:srgbClr val="EA580C"/>
                </a:solidFill>
                <a:latin typeface="Helvetica Neue"/>
              </a:rPr>
              <a:t>VISIBILITY GAP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64227" y="4937760"/>
            <a:ext cx="3063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2D3A5A"/>
                </a:solidFill>
                <a:latin typeface="Helvetica Neue"/>
              </a:rPr>
              <a:t>Owners and PMs lose visibility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2D3A5A"/>
                </a:solidFill>
                <a:latin typeface="Helvetica Neue"/>
              </a:rPr>
              <a:t>into day-to-day progress.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84667" y="4297680"/>
            <a:ext cx="361188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9B4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58987" y="4572000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spc="160">
                <a:solidFill>
                  <a:srgbClr val="EA580C"/>
                </a:solidFill>
                <a:latin typeface="Helvetica Neue"/>
              </a:rPr>
              <a:t>AUDIT GAP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8987" y="4937760"/>
            <a:ext cx="3063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2D3A5A"/>
                </a:solidFill>
                <a:latin typeface="Helvetica Neue"/>
              </a:rPr>
              <a:t>Risk and incident data never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2D3A5A"/>
                </a:solidFill>
                <a:latin typeface="Helvetica Neue"/>
              </a:rPr>
              <a:t>make it into the audit trail.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" y="6492240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644652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D3A5A"/>
                </a:solidFill>
                <a:latin typeface="Helvetica Neue"/>
              </a:rPr>
              <a:t>Harpa Pro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41280" y="644652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8693"/>
                </a:solidFill>
                <a:latin typeface="Menlo"/>
              </a:rPr>
              <a:t>03 / 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0" y="6446520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spc="160">
                <a:solidFill>
                  <a:srgbClr val="8A8693"/>
                </a:solidFill>
                <a:latin typeface="Helvetica Neue"/>
              </a:rPr>
              <a:t>SLIDE 03 — PROBLEM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spc="160">
                <a:solidFill>
                  <a:srgbClr val="EA580C"/>
                </a:solidFill>
                <a:latin typeface="Helvetica Neue"/>
              </a:rPr>
              <a:t>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868680"/>
            <a:ext cx="10469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2D3A5A"/>
                </a:solidFill>
                <a:latin typeface="Helvetica Neue"/>
              </a:rPr>
              <a:t>The 90%-complete prototype.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600200"/>
            <a:ext cx="10469880" cy="6350"/>
          </a:xfrm>
          <a:prstGeom prst="rect">
            <a:avLst/>
          </a:prstGeom>
          <a:solidFill>
            <a:srgbClr val="B9B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798167" y="1828800"/>
            <a:ext cx="2560320" cy="4160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9B4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026767" y="2057400"/>
            <a:ext cx="2103120" cy="274320"/>
          </a:xfrm>
          <a:prstGeom prst="roundRect">
            <a:avLst>
              <a:gd name="adj" fmla="val 30000"/>
            </a:avLst>
          </a:prstGeom>
          <a:solidFill>
            <a:srgbClr val="F1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072487" y="2560320"/>
            <a:ext cx="2011680" cy="320040"/>
          </a:xfrm>
          <a:prstGeom prst="roundRect">
            <a:avLst>
              <a:gd name="adj" fmla="val 20000"/>
            </a:avLst>
          </a:prstGeom>
          <a:solidFill>
            <a:srgbClr val="F1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072487" y="3063240"/>
            <a:ext cx="2011680" cy="320040"/>
          </a:xfrm>
          <a:prstGeom prst="roundRect">
            <a:avLst>
              <a:gd name="adj" fmla="val 20000"/>
            </a:avLst>
          </a:prstGeom>
          <a:solidFill>
            <a:srgbClr val="F1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072487" y="3566160"/>
            <a:ext cx="2011680" cy="320040"/>
          </a:xfrm>
          <a:prstGeom prst="roundRect">
            <a:avLst>
              <a:gd name="adj" fmla="val 20000"/>
            </a:avLst>
          </a:prstGeom>
          <a:solidFill>
            <a:srgbClr val="F1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072487" y="4069080"/>
            <a:ext cx="2011680" cy="320040"/>
          </a:xfrm>
          <a:prstGeom prst="roundRect">
            <a:avLst>
              <a:gd name="adj" fmla="val 20000"/>
            </a:avLst>
          </a:prstGeom>
          <a:solidFill>
            <a:srgbClr val="F1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072487" y="4572000"/>
            <a:ext cx="2011680" cy="320040"/>
          </a:xfrm>
          <a:prstGeom prst="roundRect">
            <a:avLst>
              <a:gd name="adj" fmla="val 20000"/>
            </a:avLst>
          </a:prstGeom>
          <a:solidFill>
            <a:srgbClr val="F1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26767" y="6172200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spc="160">
                <a:solidFill>
                  <a:srgbClr val="EA580C"/>
                </a:solidFill>
                <a:latin typeface="Helvetica Neue"/>
              </a:rPr>
              <a:t>NEW REPORT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26767" y="6492240"/>
            <a:ext cx="2560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5F5B66"/>
                </a:solidFill>
                <a:latin typeface="Helvetica Neue"/>
              </a:rPr>
              <a:t>Voice-note list, timestamps,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5F5B66"/>
                </a:solidFill>
                <a:latin typeface="Helvetica Neue"/>
              </a:rPr>
              <a:t>Generate-report button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15687" y="1828800"/>
            <a:ext cx="2560320" cy="4160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9B4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44287" y="2057400"/>
            <a:ext cx="2103120" cy="274320"/>
          </a:xfrm>
          <a:prstGeom prst="roundRect">
            <a:avLst>
              <a:gd name="adj" fmla="val 30000"/>
            </a:avLst>
          </a:prstGeom>
          <a:solidFill>
            <a:srgbClr val="F1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090007" y="2560320"/>
            <a:ext cx="2011680" cy="320040"/>
          </a:xfrm>
          <a:prstGeom prst="roundRect">
            <a:avLst>
              <a:gd name="adj" fmla="val 20000"/>
            </a:avLst>
          </a:prstGeom>
          <a:solidFill>
            <a:srgbClr val="F1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90007" y="3063240"/>
            <a:ext cx="2011680" cy="320040"/>
          </a:xfrm>
          <a:prstGeom prst="roundRect">
            <a:avLst>
              <a:gd name="adj" fmla="val 20000"/>
            </a:avLst>
          </a:prstGeom>
          <a:solidFill>
            <a:srgbClr val="F1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090007" y="3566160"/>
            <a:ext cx="2011680" cy="320040"/>
          </a:xfrm>
          <a:prstGeom prst="roundRect">
            <a:avLst>
              <a:gd name="adj" fmla="val 20000"/>
            </a:avLst>
          </a:prstGeom>
          <a:solidFill>
            <a:srgbClr val="F1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090007" y="4069080"/>
            <a:ext cx="2011680" cy="320040"/>
          </a:xfrm>
          <a:prstGeom prst="roundRect">
            <a:avLst>
              <a:gd name="adj" fmla="val 20000"/>
            </a:avLst>
          </a:prstGeom>
          <a:solidFill>
            <a:srgbClr val="F1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090007" y="4572000"/>
            <a:ext cx="2011680" cy="320040"/>
          </a:xfrm>
          <a:prstGeom prst="roundRect">
            <a:avLst>
              <a:gd name="adj" fmla="val 20000"/>
            </a:avLst>
          </a:prstGeom>
          <a:solidFill>
            <a:srgbClr val="F1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44287" y="6172200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spc="160">
                <a:solidFill>
                  <a:srgbClr val="EA580C"/>
                </a:solidFill>
                <a:latin typeface="Helvetica Neue"/>
              </a:rPr>
              <a:t>DAILY PROGRESS REPORT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44287" y="6492240"/>
            <a:ext cx="2560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5F5B66"/>
                </a:solidFill>
                <a:latin typeface="Helvetica Neue"/>
              </a:rPr>
              <a:t>Structured: weather, headcount,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5F5B66"/>
                </a:solidFill>
                <a:latin typeface="Helvetica Neue"/>
              </a:rPr>
              <a:t>materials, flagged issues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833207" y="1828800"/>
            <a:ext cx="2560320" cy="4160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9B4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061807" y="2057400"/>
            <a:ext cx="2103120" cy="274320"/>
          </a:xfrm>
          <a:prstGeom prst="roundRect">
            <a:avLst>
              <a:gd name="adj" fmla="val 30000"/>
            </a:avLst>
          </a:prstGeom>
          <a:solidFill>
            <a:srgbClr val="F1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107527" y="2560320"/>
            <a:ext cx="2011680" cy="320040"/>
          </a:xfrm>
          <a:prstGeom prst="roundRect">
            <a:avLst>
              <a:gd name="adj" fmla="val 20000"/>
            </a:avLst>
          </a:prstGeom>
          <a:solidFill>
            <a:srgbClr val="F1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107527" y="3063240"/>
            <a:ext cx="2011680" cy="320040"/>
          </a:xfrm>
          <a:prstGeom prst="roundRect">
            <a:avLst>
              <a:gd name="adj" fmla="val 20000"/>
            </a:avLst>
          </a:prstGeom>
          <a:solidFill>
            <a:srgbClr val="F1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107527" y="3566160"/>
            <a:ext cx="2011680" cy="320040"/>
          </a:xfrm>
          <a:prstGeom prst="roundRect">
            <a:avLst>
              <a:gd name="adj" fmla="val 20000"/>
            </a:avLst>
          </a:prstGeom>
          <a:solidFill>
            <a:srgbClr val="F1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107527" y="4069080"/>
            <a:ext cx="2011680" cy="320040"/>
          </a:xfrm>
          <a:prstGeom prst="roundRect">
            <a:avLst>
              <a:gd name="adj" fmla="val 20000"/>
            </a:avLst>
          </a:prstGeom>
          <a:solidFill>
            <a:srgbClr val="F1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107527" y="4572000"/>
            <a:ext cx="2011680" cy="320040"/>
          </a:xfrm>
          <a:prstGeom prst="roundRect">
            <a:avLst>
              <a:gd name="adj" fmla="val 20000"/>
            </a:avLst>
          </a:prstGeom>
          <a:solidFill>
            <a:srgbClr val="F1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61807" y="6172200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spc="160">
                <a:solidFill>
                  <a:srgbClr val="EA580C"/>
                </a:solidFill>
                <a:latin typeface="Helvetica Neue"/>
              </a:rPr>
              <a:t>REPORTS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61807" y="6492240"/>
            <a:ext cx="2560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5F5B66"/>
                </a:solidFill>
                <a:latin typeface="Helvetica Neue"/>
              </a:rPr>
              <a:t>History with DRAFT, Incident,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5F5B66"/>
                </a:solidFill>
                <a:latin typeface="Helvetica Neue"/>
              </a:rPr>
              <a:t>Safety status tags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8680" y="6263640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8A8693"/>
                </a:solidFill>
                <a:latin typeface="Menlo"/>
              </a:rPr>
              <a:t>[INSERT 3 REAL SCREENSHOTS]   ·   real screenshots already exist on slide 15 of the original deck.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8680" y="6492240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43000" y="644652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D3A5A"/>
                </a:solidFill>
                <a:latin typeface="Helvetica Neue"/>
              </a:rPr>
              <a:t>Harpa Pro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41280" y="644652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8693"/>
                </a:solidFill>
                <a:latin typeface="Menlo"/>
              </a:rPr>
              <a:t>04 / 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00400" y="6446520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spc="160">
                <a:solidFill>
                  <a:srgbClr val="8A8693"/>
                </a:solidFill>
                <a:latin typeface="Helvetica Neue"/>
              </a:rPr>
              <a:t>SLIDE 04 — PRODUCT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spc="160">
                <a:solidFill>
                  <a:srgbClr val="EA580C"/>
                </a:solidFill>
                <a:latin typeface="Helvetica Neue"/>
              </a:rPr>
              <a:t>TRACTION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868680"/>
            <a:ext cx="10469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2D3A5A"/>
                </a:solidFill>
                <a:latin typeface="Helvetica Neue"/>
              </a:rPr>
              <a:t>Where we are today.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600200"/>
            <a:ext cx="10469880" cy="6350"/>
          </a:xfrm>
          <a:prstGeom prst="rect">
            <a:avLst/>
          </a:prstGeom>
          <a:solidFill>
            <a:srgbClr val="B9B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95147" y="1828800"/>
            <a:ext cx="3611880" cy="1554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9B4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95147" y="1828800"/>
            <a:ext cx="73152" cy="155448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5147" y="2103120"/>
            <a:ext cx="36118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400" b="1">
                <a:solidFill>
                  <a:srgbClr val="2D3A5A"/>
                </a:solidFill>
                <a:latin typeface="Helvetica Neue"/>
              </a:rPr>
              <a:t>90%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147" y="2971800"/>
            <a:ext cx="3611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spc="160">
                <a:solidFill>
                  <a:srgbClr val="5F5B66"/>
                </a:solidFill>
                <a:latin typeface="Helvetica Neue"/>
              </a:rPr>
              <a:t>PROTOTYPE COMPLETE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89907" y="1828800"/>
            <a:ext cx="3611880" cy="1554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9B4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89907" y="2103120"/>
            <a:ext cx="36118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400" b="1">
                <a:solidFill>
                  <a:srgbClr val="2D3A5A"/>
                </a:solidFill>
                <a:latin typeface="Helvetica Neue"/>
              </a:rPr>
              <a:t>[N]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89907" y="2971800"/>
            <a:ext cx="3611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spc="160">
                <a:solidFill>
                  <a:srgbClr val="5F5B66"/>
                </a:solidFill>
                <a:latin typeface="Helvetica Neue"/>
              </a:rPr>
              <a:t>CUSTOMER INTERVIEWS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84667" y="1828800"/>
            <a:ext cx="3611880" cy="1554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9B4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84667" y="2103120"/>
            <a:ext cx="36118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400" b="1">
                <a:solidFill>
                  <a:srgbClr val="2D3A5A"/>
                </a:solidFill>
                <a:latin typeface="Helvetica Neue"/>
              </a:rPr>
              <a:t>[N]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84667" y="2971800"/>
            <a:ext cx="3611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spc="160">
                <a:solidFill>
                  <a:srgbClr val="5F5B66"/>
                </a:solidFill>
                <a:latin typeface="Helvetica Neue"/>
              </a:rPr>
              <a:t>PILOTS IN PIPELINE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3840480"/>
            <a:ext cx="10469880" cy="2011680"/>
          </a:xfrm>
          <a:prstGeom prst="roundRect">
            <a:avLst>
              <a:gd name="adj" fmla="val 5000"/>
            </a:avLst>
          </a:prstGeom>
          <a:solidFill>
            <a:srgbClr val="FFFDF8"/>
          </a:solidFill>
          <a:ln w="9525">
            <a:solidFill>
              <a:srgbClr val="B9B4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" y="3840480"/>
            <a:ext cx="73152" cy="201168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34440" y="4023360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spc="160">
                <a:solidFill>
                  <a:srgbClr val="5F5B66"/>
                </a:solidFill>
                <a:latin typeface="Helvetica Neue"/>
              </a:rPr>
              <a:t>VOICE OF CUSTOMER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89120"/>
            <a:ext cx="9738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>
                <a:solidFill>
                  <a:srgbClr val="2D3A5A"/>
                </a:solidFill>
                <a:latin typeface="Helvetica Neue"/>
              </a:rPr>
              <a:t>“[VERBATIM QUOTE FROM A REAL CONSTRUCTION PM, 1–2 SENTENCES.]”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5349240"/>
            <a:ext cx="9738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F5B66"/>
                </a:solidFill>
                <a:latin typeface="Menlo"/>
              </a:rPr>
              <a:t>[NAME]   ·   [TITLE]   ·   [COMPANY]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989320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spc="160">
                <a:solidFill>
                  <a:srgbClr val="5F5B66"/>
                </a:solidFill>
                <a:latin typeface="Helvetica Neue"/>
              </a:rPr>
              <a:t>PILOTS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6263640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F5B66"/>
                </a:solidFill>
                <a:latin typeface="Menlo"/>
              </a:rPr>
              <a:t>[PILOT COMPANY NAME]  —  [STATUS]  —  [START DATE]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8680" y="6492240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43000" y="644652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D3A5A"/>
                </a:solidFill>
                <a:latin typeface="Helvetica Neue"/>
              </a:rPr>
              <a:t>Harpa Pro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41280" y="644652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8693"/>
                </a:solidFill>
                <a:latin typeface="Menlo"/>
              </a:rPr>
              <a:t>05 / 10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6446520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spc="160">
                <a:solidFill>
                  <a:srgbClr val="8A8693"/>
                </a:solidFill>
                <a:latin typeface="Helvetica Neue"/>
              </a:rPr>
              <a:t>SLIDE 05 — TRACTION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spc="160">
                <a:solidFill>
                  <a:srgbClr val="EA580C"/>
                </a:solidFill>
                <a:latin typeface="Helvetica Neue"/>
              </a:rPr>
              <a:t>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868680"/>
            <a:ext cx="10469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2D3A5A"/>
                </a:solidFill>
                <a:latin typeface="Helvetica Neue"/>
              </a:rPr>
              <a:t>Bottoms-up sizing, beachhead first.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600200"/>
            <a:ext cx="10469880" cy="6350"/>
          </a:xfrm>
          <a:prstGeom prst="rect">
            <a:avLst/>
          </a:prstGeom>
          <a:solidFill>
            <a:srgbClr val="B9B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68680" y="1828800"/>
            <a:ext cx="10469880" cy="1280160"/>
          </a:xfrm>
          <a:prstGeom prst="roundRect">
            <a:avLst>
              <a:gd name="adj" fmla="val 5000"/>
            </a:avLst>
          </a:prstGeom>
          <a:solidFill>
            <a:srgbClr val="FFFDF8"/>
          </a:solidFill>
          <a:ln w="9525">
            <a:solidFill>
              <a:srgbClr val="B9B4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828800"/>
            <a:ext cx="73152" cy="128016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34440" y="1828800"/>
            <a:ext cx="18288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2D3A5A"/>
                </a:solidFill>
                <a:latin typeface="Helvetica Neue"/>
              </a:rPr>
              <a:t>SOM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1828800"/>
            <a:ext cx="64008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5F5B66"/>
                </a:solidFill>
                <a:latin typeface="Helvetica Neue"/>
              </a:rPr>
              <a:t>[N] supervisors in [REGION] × $[ACV] / yr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0" y="1828800"/>
            <a:ext cx="237744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3200" b="1">
                <a:solidFill>
                  <a:srgbClr val="EA580C"/>
                </a:solidFill>
                <a:latin typeface="Helvetica Neue"/>
              </a:rPr>
              <a:t>$[SOM] 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3273552"/>
            <a:ext cx="10469880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9B4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3273552"/>
            <a:ext cx="18288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2D3A5A"/>
                </a:solidFill>
                <a:latin typeface="Helvetica Neue"/>
              </a:rPr>
              <a:t>SAM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3273552"/>
            <a:ext cx="64008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5F5B66"/>
                </a:solidFill>
                <a:latin typeface="Helvetica Neue"/>
              </a:rPr>
              <a:t>GCs + enterprise developers in [REGION/COUNTRY]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3273552"/>
            <a:ext cx="237744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3200" b="1">
                <a:solidFill>
                  <a:srgbClr val="2D3A5A"/>
                </a:solidFill>
                <a:latin typeface="Helvetica Neue"/>
              </a:rPr>
              <a:t>$[SAM] 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680" y="4718304"/>
            <a:ext cx="10469880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9B4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34440" y="4718304"/>
            <a:ext cx="18288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2D3A5A"/>
                </a:solidFill>
                <a:latin typeface="Helvetica Neue"/>
              </a:rPr>
              <a:t>TAM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4718304"/>
            <a:ext cx="64008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5F5B66"/>
                </a:solidFill>
                <a:latin typeface="Helvetica Neue"/>
              </a:rPr>
              <a:t>Global construction software market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4718304"/>
            <a:ext cx="237744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3200" b="1">
                <a:solidFill>
                  <a:srgbClr val="2D3A5A"/>
                </a:solidFill>
                <a:latin typeface="Helvetica Neue"/>
              </a:rPr>
              <a:t>$[TAM] 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6126480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spc="160">
                <a:solidFill>
                  <a:srgbClr val="8A8693"/>
                </a:solidFill>
                <a:latin typeface="Helvetica Neue"/>
              </a:rPr>
              <a:t>TAM SOURCE: [INSERT INDUSTRY REPORT — IDC / GARTNER / STATISTA]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8680" y="6492240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644652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D3A5A"/>
                </a:solidFill>
                <a:latin typeface="Helvetica Neue"/>
              </a:rPr>
              <a:t>Harpa Pro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0" y="644652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8693"/>
                </a:solidFill>
                <a:latin typeface="Menlo"/>
              </a:rPr>
              <a:t>06 / 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6446520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spc="160">
                <a:solidFill>
                  <a:srgbClr val="8A8693"/>
                </a:solidFill>
                <a:latin typeface="Helvetica Neue"/>
              </a:rPr>
              <a:t>SLIDE 06 — MARKET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spc="160">
                <a:solidFill>
                  <a:srgbClr val="EA580C"/>
                </a:solidFill>
                <a:latin typeface="Helvetica Neue"/>
              </a:rPr>
              <a:t>COMPETITION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868680"/>
            <a:ext cx="10469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2D3A5A"/>
                </a:solidFill>
                <a:latin typeface="Helvetica Neue"/>
              </a:rPr>
              <a:t>Voice-first, supervisor-grade. Nobody else.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600200"/>
            <a:ext cx="10469880" cy="6350"/>
          </a:xfrm>
          <a:prstGeom prst="rect">
            <a:avLst/>
          </a:prstGeom>
          <a:solidFill>
            <a:srgbClr val="B9B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68680" y="1828800"/>
            <a:ext cx="1554480" cy="594360"/>
          </a:xfrm>
          <a:prstGeom prst="roundRect">
            <a:avLst>
              <a:gd name="adj" fmla="val 15000"/>
            </a:avLst>
          </a:prstGeom>
          <a:solidFill>
            <a:srgbClr val="2D3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28800"/>
            <a:ext cx="155448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spc="80">
                <a:solidFill>
                  <a:srgbClr val="FFFFFF"/>
                </a:solidFill>
                <a:latin typeface="Helvetica Neue"/>
              </a:rPr>
              <a:t/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23160" y="1828800"/>
            <a:ext cx="2103120" cy="594360"/>
          </a:xfrm>
          <a:prstGeom prst="roundRect">
            <a:avLst>
              <a:gd name="adj" fmla="val 0"/>
            </a:avLst>
          </a:prstGeom>
          <a:solidFill>
            <a:srgbClr val="2D3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23160" y="1828800"/>
            <a:ext cx="210312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spc="80">
                <a:solidFill>
                  <a:srgbClr val="FFFFFF"/>
                </a:solidFill>
                <a:latin typeface="Helvetica Neue"/>
              </a:rPr>
              <a:t>Procore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26280" y="1828800"/>
            <a:ext cx="2286000" cy="594360"/>
          </a:xfrm>
          <a:prstGeom prst="roundRect">
            <a:avLst>
              <a:gd name="adj" fmla="val 0"/>
            </a:avLst>
          </a:prstGeom>
          <a:solidFill>
            <a:srgbClr val="2D3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1828800"/>
            <a:ext cx="228600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spc="80">
                <a:solidFill>
                  <a:srgbClr val="FFFFFF"/>
                </a:solidFill>
                <a:latin typeface="Helvetica Neue"/>
              </a:rPr>
              <a:t>Buildots /</a:t>
            </a:r>
          </a:p>
          <a:p>
            <a:pPr algn="ctr"/>
            <a:r>
              <a:rPr sz="1200" b="1" spc="80">
                <a:solidFill>
                  <a:srgbClr val="FFFFFF"/>
                </a:solidFill>
                <a:latin typeface="Helvetica Neue"/>
              </a:rPr>
              <a:t>OpenSpace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12280" y="1828800"/>
            <a:ext cx="2103120" cy="594360"/>
          </a:xfrm>
          <a:prstGeom prst="roundRect">
            <a:avLst>
              <a:gd name="adj" fmla="val 0"/>
            </a:avLst>
          </a:prstGeom>
          <a:solidFill>
            <a:srgbClr val="2D3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12280" y="1828800"/>
            <a:ext cx="210312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spc="80">
                <a:solidFill>
                  <a:srgbClr val="FFFFFF"/>
                </a:solidFill>
                <a:latin typeface="Helvetica Neue"/>
              </a:rPr>
              <a:t>Fieldwire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15400" y="1828800"/>
            <a:ext cx="2468880" cy="594360"/>
          </a:xfrm>
          <a:prstGeom prst="roundRect">
            <a:avLst>
              <a:gd name="adj" fmla="val 15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15400" y="1828800"/>
            <a:ext cx="246888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spc="80">
                <a:solidFill>
                  <a:srgbClr val="FFFFFF"/>
                </a:solidFill>
                <a:latin typeface="Helvetica Neue"/>
              </a:rPr>
              <a:t>Harpa Pro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2423160"/>
            <a:ext cx="1554480" cy="594360"/>
          </a:xfrm>
          <a:prstGeom prst="rect">
            <a:avLst/>
          </a:prstGeom>
          <a:solidFill>
            <a:srgbClr val="F1EEE6"/>
          </a:solidFill>
          <a:ln w="9525">
            <a:solidFill>
              <a:srgbClr val="B9B4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2423160"/>
            <a:ext cx="155448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D3A5A"/>
                </a:solidFill>
                <a:latin typeface="Helvetica Neue"/>
              </a:rPr>
              <a:t>Buyer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23160" y="2423160"/>
            <a:ext cx="2103120" cy="594360"/>
          </a:xfrm>
          <a:prstGeom prst="rect">
            <a:avLst/>
          </a:prstGeom>
          <a:solidFill>
            <a:srgbClr val="FFFFFF"/>
          </a:solidFill>
          <a:ln w="9525">
            <a:solidFill>
              <a:srgbClr val="B9B4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23160" y="2423160"/>
            <a:ext cx="210312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F5B66"/>
                </a:solidFill>
                <a:latin typeface="Helvetica Neue"/>
              </a:rPr>
              <a:t>Enterprise GC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26280" y="2423160"/>
            <a:ext cx="2286000" cy="594360"/>
          </a:xfrm>
          <a:prstGeom prst="rect">
            <a:avLst/>
          </a:prstGeom>
          <a:solidFill>
            <a:srgbClr val="FFFFFF"/>
          </a:solidFill>
          <a:ln w="9525">
            <a:solidFill>
              <a:srgbClr val="B9B4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26280" y="2423160"/>
            <a:ext cx="228600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F5B66"/>
                </a:solidFill>
                <a:latin typeface="Helvetica Neue"/>
              </a:rPr>
              <a:t>Enterprise GC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12280" y="2423160"/>
            <a:ext cx="2103120" cy="594360"/>
          </a:xfrm>
          <a:prstGeom prst="rect">
            <a:avLst/>
          </a:prstGeom>
          <a:solidFill>
            <a:srgbClr val="FFFFFF"/>
          </a:solidFill>
          <a:ln w="9525">
            <a:solidFill>
              <a:srgbClr val="B9B4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12280" y="2423160"/>
            <a:ext cx="210312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F5B66"/>
                </a:solidFill>
                <a:latin typeface="Helvetica Neue"/>
              </a:rPr>
              <a:t>Mid-market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15400" y="2423160"/>
            <a:ext cx="2468880" cy="594360"/>
          </a:xfrm>
          <a:prstGeom prst="rect">
            <a:avLst/>
          </a:prstGeom>
          <a:solidFill>
            <a:srgbClr val="FFFDF8"/>
          </a:solidFill>
          <a:ln w="9525">
            <a:solidFill>
              <a:srgbClr val="B9B4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15400" y="2423160"/>
            <a:ext cx="246888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D3A5A"/>
                </a:solidFill>
                <a:latin typeface="Helvetica Neue"/>
              </a:rPr>
              <a:t>Site supervisor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8680" y="3017520"/>
            <a:ext cx="1554480" cy="594360"/>
          </a:xfrm>
          <a:prstGeom prst="rect">
            <a:avLst/>
          </a:prstGeom>
          <a:solidFill>
            <a:srgbClr val="F1EEE6"/>
          </a:solidFill>
          <a:ln w="9525">
            <a:solidFill>
              <a:srgbClr val="B9B4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3017520"/>
            <a:ext cx="155448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D3A5A"/>
                </a:solidFill>
                <a:latin typeface="Helvetica Neue"/>
              </a:rPr>
              <a:t>Input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423160" y="3017520"/>
            <a:ext cx="2103120" cy="594360"/>
          </a:xfrm>
          <a:prstGeom prst="rect">
            <a:avLst/>
          </a:prstGeom>
          <a:solidFill>
            <a:srgbClr val="F1EEE6"/>
          </a:solidFill>
          <a:ln w="9525">
            <a:solidFill>
              <a:srgbClr val="B9B4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23160" y="3017520"/>
            <a:ext cx="210312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F5B66"/>
                </a:solidFill>
                <a:latin typeface="Helvetica Neue"/>
              </a:rPr>
              <a:t>Manual forms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26280" y="3017520"/>
            <a:ext cx="2286000" cy="594360"/>
          </a:xfrm>
          <a:prstGeom prst="rect">
            <a:avLst/>
          </a:prstGeom>
          <a:solidFill>
            <a:srgbClr val="F1EEE6"/>
          </a:solidFill>
          <a:ln w="9525">
            <a:solidFill>
              <a:srgbClr val="B9B4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26280" y="3017520"/>
            <a:ext cx="228600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F5B66"/>
                </a:solidFill>
                <a:latin typeface="Helvetica Neue"/>
              </a:rPr>
              <a:t>360° camera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12280" y="3017520"/>
            <a:ext cx="2103120" cy="594360"/>
          </a:xfrm>
          <a:prstGeom prst="rect">
            <a:avLst/>
          </a:prstGeom>
          <a:solidFill>
            <a:srgbClr val="F1EEE6"/>
          </a:solidFill>
          <a:ln w="9525">
            <a:solidFill>
              <a:srgbClr val="B9B4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12280" y="3017520"/>
            <a:ext cx="210312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F5B66"/>
                </a:solidFill>
                <a:latin typeface="Helvetica Neue"/>
              </a:rPr>
              <a:t>Manual forms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915400" y="3017520"/>
            <a:ext cx="2468880" cy="594360"/>
          </a:xfrm>
          <a:prstGeom prst="rect">
            <a:avLst/>
          </a:prstGeom>
          <a:solidFill>
            <a:srgbClr val="FFFDF8"/>
          </a:solidFill>
          <a:ln w="9525">
            <a:solidFill>
              <a:srgbClr val="B9B4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915400" y="3017520"/>
            <a:ext cx="246888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D3A5A"/>
                </a:solidFill>
                <a:latin typeface="Helvetica Neue"/>
              </a:rPr>
              <a:t>Voice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68680" y="3611880"/>
            <a:ext cx="1554480" cy="594360"/>
          </a:xfrm>
          <a:prstGeom prst="rect">
            <a:avLst/>
          </a:prstGeom>
          <a:solidFill>
            <a:srgbClr val="F1EEE6"/>
          </a:solidFill>
          <a:ln w="9525">
            <a:solidFill>
              <a:srgbClr val="B9B4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3611880"/>
            <a:ext cx="155448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D3A5A"/>
                </a:solidFill>
                <a:latin typeface="Helvetica Neue"/>
              </a:rPr>
              <a:t>Onboarding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423160" y="3611880"/>
            <a:ext cx="2103120" cy="594360"/>
          </a:xfrm>
          <a:prstGeom prst="rect">
            <a:avLst/>
          </a:prstGeom>
          <a:solidFill>
            <a:srgbClr val="FFFFFF"/>
          </a:solidFill>
          <a:ln w="9525">
            <a:solidFill>
              <a:srgbClr val="B9B4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423160" y="3611880"/>
            <a:ext cx="210312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F5B66"/>
                </a:solidFill>
                <a:latin typeface="Helvetica Neue"/>
              </a:rPr>
              <a:t>Weeks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26280" y="3611880"/>
            <a:ext cx="2286000" cy="594360"/>
          </a:xfrm>
          <a:prstGeom prst="rect">
            <a:avLst/>
          </a:prstGeom>
          <a:solidFill>
            <a:srgbClr val="FFFFFF"/>
          </a:solidFill>
          <a:ln w="9525">
            <a:solidFill>
              <a:srgbClr val="B9B4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26280" y="3611880"/>
            <a:ext cx="228600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F5B66"/>
                </a:solidFill>
                <a:latin typeface="Helvetica Neue"/>
              </a:rPr>
              <a:t>Weeks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812280" y="3611880"/>
            <a:ext cx="2103120" cy="594360"/>
          </a:xfrm>
          <a:prstGeom prst="rect">
            <a:avLst/>
          </a:prstGeom>
          <a:solidFill>
            <a:srgbClr val="FFFFFF"/>
          </a:solidFill>
          <a:ln w="9525">
            <a:solidFill>
              <a:srgbClr val="B9B4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812280" y="3611880"/>
            <a:ext cx="210312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F5B66"/>
                </a:solidFill>
                <a:latin typeface="Helvetica Neue"/>
              </a:rPr>
              <a:t>Days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915400" y="3611880"/>
            <a:ext cx="2468880" cy="594360"/>
          </a:xfrm>
          <a:prstGeom prst="rect">
            <a:avLst/>
          </a:prstGeom>
          <a:solidFill>
            <a:srgbClr val="FFFDF8"/>
          </a:solidFill>
          <a:ln w="9525">
            <a:solidFill>
              <a:srgbClr val="B9B4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915400" y="3611880"/>
            <a:ext cx="246888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D3A5A"/>
                </a:solidFill>
                <a:latin typeface="Helvetica Neue"/>
              </a:rPr>
              <a:t>Minutes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68680" y="4206240"/>
            <a:ext cx="1554480" cy="594360"/>
          </a:xfrm>
          <a:prstGeom prst="rect">
            <a:avLst/>
          </a:prstGeom>
          <a:solidFill>
            <a:srgbClr val="F1EEE6"/>
          </a:solidFill>
          <a:ln w="9525">
            <a:solidFill>
              <a:srgbClr val="B9B4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68680" y="4206240"/>
            <a:ext cx="155448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D3A5A"/>
                </a:solidFill>
                <a:latin typeface="Helvetica Neue"/>
              </a:rPr>
              <a:t>Price tier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23160" y="4206240"/>
            <a:ext cx="2103120" cy="594360"/>
          </a:xfrm>
          <a:prstGeom prst="rect">
            <a:avLst/>
          </a:prstGeom>
          <a:solidFill>
            <a:srgbClr val="F1EEE6"/>
          </a:solidFill>
          <a:ln w="9525">
            <a:solidFill>
              <a:srgbClr val="B9B4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23160" y="4206240"/>
            <a:ext cx="210312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F5B66"/>
                </a:solidFill>
                <a:latin typeface="Helvetica Neue"/>
              </a:rPr>
              <a:t>$$$$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26280" y="4206240"/>
            <a:ext cx="2286000" cy="594360"/>
          </a:xfrm>
          <a:prstGeom prst="rect">
            <a:avLst/>
          </a:prstGeom>
          <a:solidFill>
            <a:srgbClr val="F1EEE6"/>
          </a:solidFill>
          <a:ln w="9525">
            <a:solidFill>
              <a:srgbClr val="B9B4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526280" y="4206240"/>
            <a:ext cx="228600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F5B66"/>
                </a:solidFill>
                <a:latin typeface="Helvetica Neue"/>
              </a:rPr>
              <a:t>$$$$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812280" y="4206240"/>
            <a:ext cx="2103120" cy="594360"/>
          </a:xfrm>
          <a:prstGeom prst="rect">
            <a:avLst/>
          </a:prstGeom>
          <a:solidFill>
            <a:srgbClr val="F1EEE6"/>
          </a:solidFill>
          <a:ln w="9525">
            <a:solidFill>
              <a:srgbClr val="B9B4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812280" y="4206240"/>
            <a:ext cx="210312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F5B66"/>
                </a:solidFill>
                <a:latin typeface="Helvetica Neue"/>
              </a:rPr>
              <a:t>$$$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915400" y="4206240"/>
            <a:ext cx="2468880" cy="594360"/>
          </a:xfrm>
          <a:prstGeom prst="rect">
            <a:avLst/>
          </a:prstGeom>
          <a:solidFill>
            <a:srgbClr val="FFFDF8"/>
          </a:solidFill>
          <a:ln w="9525">
            <a:solidFill>
              <a:srgbClr val="B9B4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915400" y="4206240"/>
            <a:ext cx="246888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D3A5A"/>
                </a:solidFill>
                <a:latin typeface="Helvetica Neue"/>
              </a:rPr>
              <a:t>$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68680" y="5029200"/>
            <a:ext cx="10469880" cy="914400"/>
          </a:xfrm>
          <a:prstGeom prst="roundRect">
            <a:avLst>
              <a:gd name="adj" fmla="val 5000"/>
            </a:avLst>
          </a:prstGeom>
          <a:solidFill>
            <a:srgbClr val="FFFDF8"/>
          </a:solidFill>
          <a:ln w="9525">
            <a:solidFill>
              <a:srgbClr val="B9B4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68680" y="5029200"/>
            <a:ext cx="73152" cy="9144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234440" y="5166360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spc="160">
                <a:solidFill>
                  <a:srgbClr val="EA580C"/>
                </a:solidFill>
                <a:latin typeface="Helvetica Neue"/>
              </a:rPr>
              <a:t>OUR WEDGE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234440" y="5440680"/>
            <a:ext cx="9738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2D3A5A"/>
                </a:solidFill>
                <a:latin typeface="Helvetica Neue"/>
              </a:rPr>
              <a:t>Voice-first input  ·  supervisor-grade UX  ·  onboarding in minutes, not weeks.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68680" y="6492240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143000" y="644652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D3A5A"/>
                </a:solidFill>
                <a:latin typeface="Helvetica Neue"/>
              </a:rPr>
              <a:t>Harpa Pro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241280" y="644652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8693"/>
                </a:solidFill>
                <a:latin typeface="Menlo"/>
              </a:rPr>
              <a:t>07 / 10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200400" y="6446520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spc="160">
                <a:solidFill>
                  <a:srgbClr val="8A8693"/>
                </a:solidFill>
                <a:latin typeface="Helvetica Neue"/>
              </a:rPr>
              <a:t>SLIDE 07 — COMPETITION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spc="160">
                <a:solidFill>
                  <a:srgbClr val="EA580C"/>
                </a:solidFill>
                <a:latin typeface="Helvetica Neue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868680"/>
            <a:ext cx="10469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2D3A5A"/>
                </a:solidFill>
                <a:latin typeface="Helvetica Neue"/>
              </a:rPr>
              <a:t>Per-seat SaaS, land with supervisors.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600200"/>
            <a:ext cx="10469880" cy="6350"/>
          </a:xfrm>
          <a:prstGeom prst="rect">
            <a:avLst/>
          </a:prstGeom>
          <a:solidFill>
            <a:srgbClr val="B9B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95147" y="2011680"/>
            <a:ext cx="2697480" cy="2697480"/>
          </a:xfrm>
          <a:prstGeom prst="roundRect">
            <a:avLst>
              <a:gd name="adj" fmla="val 5000"/>
            </a:avLst>
          </a:prstGeom>
          <a:solidFill>
            <a:srgbClr val="FFFDF8"/>
          </a:solidFill>
          <a:ln w="9525">
            <a:solidFill>
              <a:srgbClr val="B9B4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95147" y="2011680"/>
            <a:ext cx="2697480" cy="73152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9467" y="2286000"/>
            <a:ext cx="2148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spc="160">
                <a:solidFill>
                  <a:srgbClr val="EA580C"/>
                </a:solidFill>
                <a:latin typeface="Helvetica Neue"/>
              </a:rPr>
              <a:t>PRICING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9467" y="2880360"/>
            <a:ext cx="2148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4000" b="1">
                <a:solidFill>
                  <a:srgbClr val="2D3A5A"/>
                </a:solidFill>
                <a:latin typeface="Helvetica Neue"/>
              </a:rPr>
              <a:t>$[X]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9467" y="4160520"/>
            <a:ext cx="2148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>
                <a:solidFill>
                  <a:srgbClr val="5F5B66"/>
                </a:solidFill>
                <a:latin typeface="Helvetica Neue"/>
              </a:rPr>
              <a:t>/seat / month, billed annually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29787" y="2011680"/>
            <a:ext cx="2697480" cy="2697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9B4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04107" y="2286000"/>
            <a:ext cx="2148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spc="160">
                <a:solidFill>
                  <a:srgbClr val="5F5B66"/>
                </a:solidFill>
                <a:latin typeface="Helvetica Neue"/>
              </a:rPr>
              <a:t>TARGET ACV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04107" y="2880360"/>
            <a:ext cx="2148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4000" b="1">
                <a:solidFill>
                  <a:srgbClr val="2D3A5A"/>
                </a:solidFill>
                <a:latin typeface="Helvetica Neue"/>
              </a:rPr>
              <a:t>$[Y]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04107" y="4160520"/>
            <a:ext cx="2148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>
                <a:solidFill>
                  <a:srgbClr val="5F5B66"/>
                </a:solidFill>
                <a:latin typeface="Helvetica Neue"/>
              </a:rPr>
              <a:t>≈ [N] seats per company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64427" y="2011680"/>
            <a:ext cx="2697480" cy="2697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9B4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8747" y="2286000"/>
            <a:ext cx="2148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spc="160">
                <a:solidFill>
                  <a:srgbClr val="5F5B66"/>
                </a:solidFill>
                <a:latin typeface="Helvetica Neue"/>
              </a:rPr>
              <a:t>GROSS MARGIN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8747" y="2880360"/>
            <a:ext cx="2148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4000" b="1">
                <a:solidFill>
                  <a:srgbClr val="2D3A5A"/>
                </a:solidFill>
                <a:latin typeface="Helvetica Neue"/>
              </a:rPr>
              <a:t>[Z]%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8747" y="4160520"/>
            <a:ext cx="2148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>
                <a:solidFill>
                  <a:srgbClr val="5F5B66"/>
                </a:solidFill>
                <a:latin typeface="Helvetica Neue"/>
              </a:rPr>
              <a:t>after AI inference cost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99067" y="2011680"/>
            <a:ext cx="2697480" cy="2697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9B4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73387" y="2286000"/>
            <a:ext cx="2148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spc="160">
                <a:solidFill>
                  <a:srgbClr val="5F5B66"/>
                </a:solidFill>
                <a:latin typeface="Helvetica Neue"/>
              </a:rPr>
              <a:t>MOTION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73387" y="2880360"/>
            <a:ext cx="2148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2600" b="1">
                <a:solidFill>
                  <a:srgbClr val="2D3A5A"/>
                </a:solidFill>
                <a:latin typeface="Helvetica Neue"/>
              </a:rPr>
              <a:t>Land &amp;</a:t>
            </a:r>
          </a:p>
          <a:p>
            <a:pPr algn="ctr">
              <a:lnSpc>
                <a:spcPct val="110000"/>
              </a:lnSpc>
            </a:pPr>
            <a:r>
              <a:rPr sz="2600" b="1">
                <a:solidFill>
                  <a:srgbClr val="2D3A5A"/>
                </a:solidFill>
                <a:latin typeface="Helvetica Neue"/>
              </a:rPr>
              <a:t>expand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73387" y="4160520"/>
            <a:ext cx="2148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>
                <a:solidFill>
                  <a:srgbClr val="5F5B66"/>
                </a:solidFill>
                <a:latin typeface="Helvetica Neue"/>
              </a:rPr>
              <a:t>supervisor → PM → owner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6035040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spc="160">
                <a:solidFill>
                  <a:srgbClr val="8A8693"/>
                </a:solidFill>
                <a:latin typeface="Helvetica Neue"/>
              </a:rPr>
              <a:t>AI INFERENCE COST ≈ $[X] PER ACTIVE USER / MONTH — SHOWN FOR TRANSPARENCY.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" y="6492240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644652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D3A5A"/>
                </a:solidFill>
                <a:latin typeface="Helvetica Neue"/>
              </a:rPr>
              <a:t>Harpa Pro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0" y="644652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8693"/>
                </a:solidFill>
                <a:latin typeface="Menlo"/>
              </a:rPr>
              <a:t>08 / 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0" y="6446520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spc="160">
                <a:solidFill>
                  <a:srgbClr val="8A8693"/>
                </a:solidFill>
                <a:latin typeface="Helvetica Neue"/>
              </a:rPr>
              <a:t>SLIDE 08 — BUSINESS MODEL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spc="160">
                <a:solidFill>
                  <a:srgbClr val="EA580C"/>
                </a:solidFill>
                <a:latin typeface="Helvetica Neue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868680"/>
            <a:ext cx="10469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2D3A5A"/>
                </a:solidFill>
                <a:latin typeface="Helvetica Neue"/>
              </a:rPr>
              <a:t>Two founders. One product.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600200"/>
            <a:ext cx="10469880" cy="6350"/>
          </a:xfrm>
          <a:prstGeom prst="rect">
            <a:avLst/>
          </a:prstGeom>
          <a:solidFill>
            <a:srgbClr val="B9B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92327" y="1828800"/>
            <a:ext cx="5120640" cy="4114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B9B4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49527" y="2286000"/>
            <a:ext cx="1737360" cy="1737360"/>
          </a:xfrm>
          <a:prstGeom prst="roundRect">
            <a:avLst>
              <a:gd name="adj" fmla="val 50000"/>
            </a:avLst>
          </a:prstGeom>
          <a:solidFill>
            <a:srgbClr val="F1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49527" y="2286000"/>
            <a:ext cx="1737360" cy="1737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spc="160">
                <a:solidFill>
                  <a:srgbClr val="8A8693"/>
                </a:solidFill>
                <a:latin typeface="Menlo"/>
              </a:rPr>
              <a:t>[PHOTO]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69767" y="2423160"/>
            <a:ext cx="2560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2D3A5A"/>
                </a:solidFill>
                <a:latin typeface="Helvetica Neue"/>
              </a:rPr>
              <a:t>Haruna Bayoh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69767" y="3017520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spc="160">
                <a:solidFill>
                  <a:srgbClr val="EA580C"/>
                </a:solidFill>
                <a:latin typeface="Helvetica Neue"/>
              </a:rPr>
              <a:t>CO-FOUNDER · [ROLE]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249527" y="4389120"/>
            <a:ext cx="4206240" cy="6350"/>
          </a:xfrm>
          <a:prstGeom prst="rect">
            <a:avLst/>
          </a:prstGeom>
          <a:solidFill>
            <a:srgbClr val="B9B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9527" y="4572000"/>
            <a:ext cx="42062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2D3A5A"/>
                </a:solidFill>
                <a:latin typeface="Helvetica Neue"/>
              </a:rPr>
              <a:t>[ONE-LINE WHY-US: prior construction-tech experience,</a:t>
            </a:r>
          </a:p>
          <a:p>
            <a:pPr algn="l">
              <a:lnSpc>
                <a:spcPct val="140000"/>
              </a:lnSpc>
            </a:pPr>
            <a:r>
              <a:rPr sz="1400" b="0">
                <a:solidFill>
                  <a:srgbClr val="2D3A5A"/>
                </a:solidFill>
                <a:latin typeface="Helvetica Neue"/>
              </a:rPr>
              <a:t>shipped product, language/region advantage,</a:t>
            </a:r>
          </a:p>
          <a:p>
            <a:pPr algn="l">
              <a:lnSpc>
                <a:spcPct val="140000"/>
              </a:lnSpc>
            </a:pPr>
            <a:r>
              <a:rPr sz="1400" b="0">
                <a:solidFill>
                  <a:srgbClr val="2D3A5A"/>
                </a:solidFill>
                <a:latin typeface="Helvetica Neue"/>
              </a:rPr>
              <a:t>technical depth — pick the strongest.]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78727" y="1828800"/>
            <a:ext cx="5120640" cy="4114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B9B4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735927" y="2286000"/>
            <a:ext cx="1737360" cy="1737360"/>
          </a:xfrm>
          <a:prstGeom prst="roundRect">
            <a:avLst>
              <a:gd name="adj" fmla="val 50000"/>
            </a:avLst>
          </a:prstGeom>
          <a:solidFill>
            <a:srgbClr val="F1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35927" y="2286000"/>
            <a:ext cx="1737360" cy="1737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spc="160">
                <a:solidFill>
                  <a:srgbClr val="8A8693"/>
                </a:solidFill>
                <a:latin typeface="Menlo"/>
              </a:rPr>
              <a:t>[PHOTO]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56167" y="2423160"/>
            <a:ext cx="2560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2D3A5A"/>
                </a:solidFill>
                <a:latin typeface="Helvetica Neue"/>
              </a:rPr>
              <a:t>Patrick Chin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56167" y="3017520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spc="160">
                <a:solidFill>
                  <a:srgbClr val="EA580C"/>
                </a:solidFill>
                <a:latin typeface="Helvetica Neue"/>
              </a:rPr>
              <a:t>CO-FOUNDER · [ROLE]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35927" y="4389120"/>
            <a:ext cx="4206240" cy="6350"/>
          </a:xfrm>
          <a:prstGeom prst="rect">
            <a:avLst/>
          </a:prstGeom>
          <a:solidFill>
            <a:srgbClr val="B9B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35927" y="4572000"/>
            <a:ext cx="42062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2D3A5A"/>
                </a:solidFill>
                <a:latin typeface="Helvetica Neue"/>
              </a:rPr>
              <a:t>[ONE-LINE WHY-US: what you've built and shipped,</a:t>
            </a:r>
          </a:p>
          <a:p>
            <a:pPr algn="l">
              <a:lnSpc>
                <a:spcPct val="140000"/>
              </a:lnSpc>
            </a:pPr>
            <a:r>
              <a:rPr sz="1400" b="0">
                <a:solidFill>
                  <a:srgbClr val="2D3A5A"/>
                </a:solidFill>
                <a:latin typeface="Helvetica Neue"/>
              </a:rPr>
              <a:t>relevant domain experience.]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8680" y="6492240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644652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D3A5A"/>
                </a:solidFill>
                <a:latin typeface="Helvetica Neue"/>
              </a:rPr>
              <a:t>Harpa Pro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0" y="644652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8693"/>
                </a:solidFill>
                <a:latin typeface="Menlo"/>
              </a:rPr>
              <a:t>09 / 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6446520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spc="160">
                <a:solidFill>
                  <a:srgbClr val="8A8693"/>
                </a:solidFill>
                <a:latin typeface="Helvetica Neue"/>
              </a:rPr>
              <a:t>SLIDE 09 — TEAM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spc="160">
                <a:solidFill>
                  <a:srgbClr val="EA580C"/>
                </a:solidFill>
                <a:latin typeface="Helvetica Neue"/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868680"/>
            <a:ext cx="10469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2D3A5A"/>
                </a:solidFill>
                <a:latin typeface="Helvetica Neue"/>
              </a:rPr>
              <a:t>What we need, what it buys.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600200"/>
            <a:ext cx="10469880" cy="6350"/>
          </a:xfrm>
          <a:prstGeom prst="rect">
            <a:avLst/>
          </a:prstGeom>
          <a:solidFill>
            <a:srgbClr val="B9B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4698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800" b="1">
                <a:solidFill>
                  <a:srgbClr val="EA580C"/>
                </a:solidFill>
                <a:latin typeface="Helvetica Neue"/>
              </a:rPr>
              <a:t>$200,000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200400"/>
            <a:ext cx="10469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2D3A5A"/>
                </a:solidFill>
                <a:latin typeface="Menlo"/>
              </a:rPr>
              <a:t>SAFE   ·   $[CAP] M post-money cap   ·   18 months runway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4023360"/>
            <a:ext cx="5097780" cy="1920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9B4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4251960"/>
            <a:ext cx="50977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spc="160">
                <a:solidFill>
                  <a:srgbClr val="EA580C"/>
                </a:solidFill>
                <a:latin typeface="Helvetica Neue"/>
              </a:rPr>
              <a:t>MILESTONES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4617720"/>
            <a:ext cx="4549140" cy="1188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>
                <a:solidFill>
                  <a:srgbClr val="2D3A5A"/>
                </a:solidFill>
                <a:latin typeface="Helvetica Neue"/>
              </a:rPr>
              <a:t>—  [N] paying pilots in [REGION]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2D3A5A"/>
                </a:solidFill>
                <a:latin typeface="Helvetica Neue"/>
              </a:rPr>
              <a:t>—  $[MRR] MRR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2D3A5A"/>
                </a:solidFill>
                <a:latin typeface="Helvetica Neue"/>
              </a:rPr>
              <a:t>—  [PRODUCT MILESTONE]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0780" y="4023360"/>
            <a:ext cx="5097780" cy="1920240"/>
          </a:xfrm>
          <a:prstGeom prst="roundRect">
            <a:avLst>
              <a:gd name="adj" fmla="val 5000"/>
            </a:avLst>
          </a:prstGeom>
          <a:solidFill>
            <a:srgbClr val="FFFDF8"/>
          </a:solidFill>
          <a:ln w="9525">
            <a:solidFill>
              <a:srgbClr val="B9B4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5100" y="4251960"/>
            <a:ext cx="50977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spc="160">
                <a:solidFill>
                  <a:srgbClr val="EA580C"/>
                </a:solidFill>
                <a:latin typeface="Helvetica Neue"/>
              </a:rPr>
              <a:t>USE OF FUNDS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5100" y="4617720"/>
            <a:ext cx="4549140" cy="1188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>
                <a:solidFill>
                  <a:srgbClr val="2D3A5A"/>
                </a:solidFill>
                <a:latin typeface="Helvetica Neue"/>
              </a:rPr>
              <a:t>—  [%] product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2D3A5A"/>
                </a:solidFill>
                <a:latin typeface="Helvetica Neue"/>
              </a:rPr>
              <a:t>—  [%] AI inference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2D3A5A"/>
                </a:solidFill>
                <a:latin typeface="Helvetica Neue"/>
              </a:rPr>
              <a:t>—  [%] go-to-market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6126480"/>
            <a:ext cx="10469880" cy="6350"/>
          </a:xfrm>
          <a:prstGeom prst="rect">
            <a:avLst/>
          </a:prstGeom>
          <a:solidFill>
            <a:srgbClr val="B9B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6263640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2D3A5A"/>
                </a:solidFill>
                <a:latin typeface="Menlo"/>
              </a:rPr>
              <a:t>Haruna Bayoh   ·   haruna@harpapro.com   ·   +86 156 6257 5731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6492240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644652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D3A5A"/>
                </a:solidFill>
                <a:latin typeface="Helvetica Neue"/>
              </a:rPr>
              <a:t>Harpa Pro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0" y="644652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8693"/>
                </a:solidFill>
                <a:latin typeface="Menlo"/>
              </a:rPr>
              <a:t>10 / 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6446520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spc="160">
                <a:solidFill>
                  <a:srgbClr val="8A8693"/>
                </a:solidFill>
                <a:latin typeface="Helvetica Neue"/>
              </a:rPr>
              <a:t>SLIDE 10 — ASK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